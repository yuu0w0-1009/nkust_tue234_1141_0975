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7" r:id="rId2"/>
  </p:sldMasterIdLst>
  <p:notesMasterIdLst>
    <p:notesMasterId r:id="rId47"/>
  </p:notesMasterIdLst>
  <p:handoutMasterIdLst>
    <p:handoutMasterId r:id="rId48"/>
  </p:handoutMasterIdLst>
  <p:sldIdLst>
    <p:sldId id="500" r:id="rId3"/>
    <p:sldId id="559" r:id="rId4"/>
    <p:sldId id="576" r:id="rId5"/>
    <p:sldId id="578" r:id="rId6"/>
    <p:sldId id="593" r:id="rId7"/>
    <p:sldId id="577" r:id="rId8"/>
    <p:sldId id="575" r:id="rId9"/>
    <p:sldId id="594" r:id="rId10"/>
    <p:sldId id="560" r:id="rId11"/>
    <p:sldId id="552" r:id="rId12"/>
    <p:sldId id="553" r:id="rId13"/>
    <p:sldId id="595" r:id="rId14"/>
    <p:sldId id="596" r:id="rId15"/>
    <p:sldId id="561" r:id="rId16"/>
    <p:sldId id="556" r:id="rId17"/>
    <p:sldId id="558" r:id="rId18"/>
    <p:sldId id="557" r:id="rId19"/>
    <p:sldId id="597" r:id="rId20"/>
    <p:sldId id="598" r:id="rId21"/>
    <p:sldId id="580" r:id="rId22"/>
    <p:sldId id="585" r:id="rId23"/>
    <p:sldId id="584" r:id="rId24"/>
    <p:sldId id="599" r:id="rId25"/>
    <p:sldId id="582" r:id="rId26"/>
    <p:sldId id="586" r:id="rId27"/>
    <p:sldId id="587" r:id="rId28"/>
    <p:sldId id="588" r:id="rId29"/>
    <p:sldId id="600" r:id="rId30"/>
    <p:sldId id="579" r:id="rId31"/>
    <p:sldId id="592" r:id="rId32"/>
    <p:sldId id="607" r:id="rId33"/>
    <p:sldId id="581" r:id="rId34"/>
    <p:sldId id="603" r:id="rId35"/>
    <p:sldId id="604" r:id="rId36"/>
    <p:sldId id="605" r:id="rId37"/>
    <p:sldId id="583" r:id="rId38"/>
    <p:sldId id="590" r:id="rId39"/>
    <p:sldId id="591" r:id="rId40"/>
    <p:sldId id="601" r:id="rId41"/>
    <p:sldId id="589" r:id="rId42"/>
    <p:sldId id="566" r:id="rId43"/>
    <p:sldId id="567" r:id="rId44"/>
    <p:sldId id="568" r:id="rId45"/>
    <p:sldId id="602" r:id="rId46"/>
  </p:sldIdLst>
  <p:sldSz cx="9144000" cy="5143500" type="screen16x9"/>
  <p:notesSz cx="6858000" cy="9144000"/>
  <p:custDataLst>
    <p:tags r:id="rId4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78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D3B"/>
    <a:srgbClr val="FF972A"/>
    <a:srgbClr val="0097C8"/>
    <a:srgbClr val="FF66FF"/>
    <a:srgbClr val="00C1EE"/>
    <a:srgbClr val="0000FF"/>
    <a:srgbClr val="82E0FE"/>
    <a:srgbClr val="5CCCCC"/>
    <a:srgbClr val="016E91"/>
    <a:srgbClr val="E6E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68" autoAdjust="0"/>
    <p:restoredTop sz="94731" autoAdjust="0"/>
  </p:normalViewPr>
  <p:slideViewPr>
    <p:cSldViewPr>
      <p:cViewPr>
        <p:scale>
          <a:sx n="150" d="100"/>
          <a:sy n="150" d="100"/>
        </p:scale>
        <p:origin x="-168" y="65"/>
      </p:cViewPr>
      <p:guideLst>
        <p:guide orient="horz" pos="1620"/>
        <p:guide pos="2789"/>
      </p:guideLst>
    </p:cSldViewPr>
  </p:slideViewPr>
  <p:outlineViewPr>
    <p:cViewPr>
      <p:scale>
        <a:sx n="33" d="100"/>
        <a:sy n="33" d="100"/>
      </p:scale>
      <p:origin x="0" y="-120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commentAuthors" Target="comment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FC5F598-0C7A-454D-B2D6-F82B070057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6B08EB0-166A-444A-9A6D-315BB875FBE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C30818-ACDB-49A0-ABC8-90F31CB1D675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19498B9-0CF6-421B-AEAA-AF2C454EDD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FB956D3-5F31-422D-84BC-646FA305D8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085EEC-13B3-4D83-A5D9-E0ED9421A3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0648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DD754-F49E-4351-AAFE-19D83F43501C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8F6036-E835-44CB-A25A-34C755DFD5D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38723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1553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0907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604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394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430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1277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43812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56391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6995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92034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2558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1942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3474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00397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13271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064609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8583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92568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96723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03256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9513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8244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956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607800" y="29650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Rules</a:t>
            </a:r>
            <a:endParaRPr lang="zh-CN" altLang="en-US" b="1" dirty="0">
              <a:solidFill>
                <a:schemeClr val="accent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285750"/>
            <a:ext cx="533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194984" y="356116"/>
            <a:ext cx="414616" cy="224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E06830-20F7-4965-AFAA-BA3E280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074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607800" y="296508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作業上傳說明</a:t>
            </a:r>
            <a:endParaRPr lang="zh-CN" altLang="en-US" b="1" dirty="0">
              <a:solidFill>
                <a:schemeClr val="accent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285750"/>
            <a:ext cx="533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194984" y="356116"/>
            <a:ext cx="414616" cy="224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E06830-20F7-4965-AFAA-BA3E280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673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607800" y="296508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第 </a:t>
            </a:r>
            <a:r>
              <a:rPr lang="en-US" altLang="zh-TW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1</a:t>
            </a:r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題</a:t>
            </a:r>
            <a:endParaRPr lang="zh-CN" altLang="en-US" b="1" dirty="0">
              <a:solidFill>
                <a:schemeClr val="accent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285750"/>
            <a:ext cx="533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194984" y="356116"/>
            <a:ext cx="414616" cy="224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E06830-20F7-4965-AFAA-BA3E280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302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607800" y="296508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第 </a:t>
            </a:r>
            <a:r>
              <a:rPr lang="en-US" altLang="zh-TW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2</a:t>
            </a:r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題</a:t>
            </a:r>
            <a:endParaRPr lang="zh-CN" altLang="en-US" b="1" dirty="0">
              <a:solidFill>
                <a:schemeClr val="accent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285750"/>
            <a:ext cx="533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194984" y="356116"/>
            <a:ext cx="414616" cy="224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E06830-20F7-4965-AFAA-BA3E280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617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607800" y="296508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第 </a:t>
            </a:r>
            <a:r>
              <a:rPr lang="en-US" altLang="zh-TW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3</a:t>
            </a:r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題</a:t>
            </a:r>
            <a:endParaRPr lang="zh-CN" altLang="en-US" b="1" dirty="0">
              <a:solidFill>
                <a:schemeClr val="accent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285750"/>
            <a:ext cx="533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194984" y="356116"/>
            <a:ext cx="414616" cy="224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E06830-20F7-4965-AFAA-BA3E280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718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607800" y="296508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第 </a:t>
            </a:r>
            <a:r>
              <a:rPr lang="en-US" altLang="zh-TW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4</a:t>
            </a:r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題</a:t>
            </a:r>
            <a:endParaRPr lang="zh-CN" altLang="en-US" b="1" dirty="0">
              <a:solidFill>
                <a:schemeClr val="accent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285750"/>
            <a:ext cx="533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194984" y="356116"/>
            <a:ext cx="414616" cy="224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E06830-20F7-4965-AFAA-BA3E280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484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607800" y="296508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第 </a:t>
            </a:r>
            <a:r>
              <a:rPr lang="en-US" altLang="zh-TW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5</a:t>
            </a:r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題</a:t>
            </a:r>
            <a:endParaRPr lang="zh-CN" altLang="en-US" b="1" dirty="0">
              <a:solidFill>
                <a:schemeClr val="accent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285750"/>
            <a:ext cx="533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194984" y="356116"/>
            <a:ext cx="414616" cy="224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E06830-20F7-4965-AFAA-BA3E280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27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607800" y="296508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第 </a:t>
            </a:r>
            <a:r>
              <a:rPr lang="en-US" altLang="zh-TW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6</a:t>
            </a:r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題</a:t>
            </a:r>
            <a:endParaRPr lang="zh-CN" altLang="en-US" b="1" dirty="0">
              <a:solidFill>
                <a:schemeClr val="accent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285750"/>
            <a:ext cx="533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194984" y="356116"/>
            <a:ext cx="414616" cy="224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E06830-20F7-4965-AFAA-BA3E280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292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607800" y="296508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第 </a:t>
            </a:r>
            <a:r>
              <a:rPr lang="en-US" altLang="zh-TW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7</a:t>
            </a:r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題</a:t>
            </a:r>
            <a:endParaRPr lang="zh-CN" altLang="en-US" b="1" dirty="0">
              <a:solidFill>
                <a:schemeClr val="accent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285750"/>
            <a:ext cx="533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194984" y="356116"/>
            <a:ext cx="414616" cy="224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E06830-20F7-4965-AFAA-BA3E280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873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607800" y="296508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第 </a:t>
            </a:r>
            <a:r>
              <a:rPr lang="en-US" altLang="zh-TW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8</a:t>
            </a:r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題</a:t>
            </a:r>
            <a:endParaRPr lang="zh-CN" altLang="en-US" b="1" dirty="0">
              <a:solidFill>
                <a:schemeClr val="accent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285750"/>
            <a:ext cx="533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194984" y="356116"/>
            <a:ext cx="414616" cy="224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E06830-20F7-4965-AFAA-BA3E280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637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607800" y="296508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第 </a:t>
            </a:r>
            <a:r>
              <a:rPr lang="en-US" altLang="zh-TW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9</a:t>
            </a:r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題</a:t>
            </a:r>
            <a:endParaRPr lang="zh-CN" altLang="en-US" b="1" dirty="0">
              <a:solidFill>
                <a:schemeClr val="accent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285750"/>
            <a:ext cx="533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194984" y="356116"/>
            <a:ext cx="414616" cy="224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E06830-20F7-4965-AFAA-BA3E280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274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 userDrawn="1"/>
        </p:nvSpPr>
        <p:spPr>
          <a:xfrm>
            <a:off x="607800" y="296508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第 </a:t>
            </a:r>
            <a:r>
              <a:rPr lang="en-US" altLang="zh-TW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10</a:t>
            </a:r>
            <a:r>
              <a:rPr lang="zh-TW" altLang="en-US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ea"/>
                <a:sym typeface="+mn-lt"/>
              </a:rPr>
              <a:t> 題</a:t>
            </a:r>
            <a:endParaRPr lang="zh-CN" altLang="en-US" b="1" dirty="0">
              <a:solidFill>
                <a:schemeClr val="accent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0" y="285750"/>
            <a:ext cx="5334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 userDrawn="1"/>
        </p:nvSpPr>
        <p:spPr>
          <a:xfrm>
            <a:off x="194984" y="356116"/>
            <a:ext cx="414616" cy="22479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E06830-20F7-4965-AFAA-BA3E280B8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</p:spPr>
        <p:txBody>
          <a:bodyPr/>
          <a:lstStyle/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832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D15D6E-F39C-4969-96FF-19D67F5B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B11AEED-54C3-4D30-B8D3-E6367254CF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6402A8-CDDA-4131-B4AD-4DBDB1718F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29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2C3A93-DAB1-4582-BA03-15A4B5C45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6E911EF-CEC2-4F8A-AEC3-9912D6892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1F84C5-A9D4-4340-B89D-19168AAED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0C98-47A7-4DC5-A4D7-2EA409D7DD39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0B9D5B2-BAD0-4961-9BB0-50DDF231C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77EE11-752E-4BFC-B8A0-3C2C98688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D12AD-D93C-4A25-994F-7AD62A3B34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376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FEA729-E0F1-45FA-9447-E01E292B3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982EB6-C382-4C51-B7BF-DAC6B857E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89AAEF-912A-4CE3-8BE4-9A1501437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0C98-47A7-4DC5-A4D7-2EA409D7DD39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9D0F81-A9B0-4027-B640-1E2B7B05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B912057-A689-439A-9513-F86E23876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D12AD-D93C-4A25-994F-7AD62A3B34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57231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BA44EA-1FC1-4638-80D4-C7FC1A710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FF82A3-A258-4409-B1B8-0EA48D018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35993C-27CA-437D-AA6B-F85FC5404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0C98-47A7-4DC5-A4D7-2EA409D7DD39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19DB6C-6C7E-4FA6-98D5-FC98302D0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94F686-E8A2-4B3D-8533-485D3F444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D12AD-D93C-4A25-994F-7AD62A3B34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89783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3958D9-C202-4210-81EC-C41F62001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EF8417-2A1E-46CB-9581-57A648DD4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BB4A428-181C-4AD0-B75B-7278C7071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14230B-FC03-4257-96F0-22FF2E854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0C98-47A7-4DC5-A4D7-2EA409D7DD39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29D85DD-D324-461A-A7EB-111F74161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2E86C4-3351-4A4D-AE6C-8CB144E61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D12AD-D93C-4A25-994F-7AD62A3B34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0112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5B3126-8D08-4656-BB5E-16B0A5779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5CA243B-5BF8-4B35-BBCB-8FE53640B7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D6A675D-28F2-46C0-86B5-1476589AA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82F63E2-E8DA-42FF-81E5-FF58CB07C5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DA3C34A-94AF-4358-8C29-53C055D44D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67BC476-4557-4224-BE88-943B94A53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0C98-47A7-4DC5-A4D7-2EA409D7DD39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08F1731-9079-42F4-B422-C499DEF3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FF816B0-6CCC-4555-8C45-7AD70B6C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D12AD-D93C-4A25-994F-7AD62A3B34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008290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7526B9-9F8E-49D0-99EF-DEB040B84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6ACA831-45E4-4D7E-95B6-AF111F1F1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0C98-47A7-4DC5-A4D7-2EA409D7DD39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022CFB-41A4-4419-A6C0-3C77519A8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8650BB8-B61D-408C-8742-6EB8C7D6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D12AD-D93C-4A25-994F-7AD62A3B34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27924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ECE21F0-8421-463E-97AC-F2C9CEE50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0C98-47A7-4DC5-A4D7-2EA409D7DD39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9131254-5D61-4EEE-B25D-4A3CE0536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C9CE24-2A22-4EFA-A40B-64A8B2BBD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D12AD-D93C-4A25-994F-7AD62A3B34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4841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35A10-CEA7-44A7-BFF1-E26F433D1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8EF77A-E15E-4F0D-8196-DC0E6CD94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27F5A6A-E8CD-4D7B-A32F-FFEDCB006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D258FD9-F077-49C2-8495-9C203404D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0C98-47A7-4DC5-A4D7-2EA409D7DD39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F695826-E8F7-4F12-BF62-962BE0FB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1FEBA64-3CD8-49F7-A2D7-BE9A22A58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D12AD-D93C-4A25-994F-7AD62A3B34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26772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00F4B8-16B9-4FCE-A749-24EB46BA5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EC1AD07-7FE2-4E16-86A1-12F1E19C8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96ED7A9-7013-48B0-9213-5F190BE67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A0A2F4D-796C-45AF-9CD3-9498772EF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0C98-47A7-4DC5-A4D7-2EA409D7DD39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CB0D8C1-64C5-42AD-9097-56FE7D80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D19E2DB-B2D5-4581-BD73-6372B1D2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D12AD-D93C-4A25-994F-7AD62A3B34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27441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8331B0-1353-4810-BB0A-3BDED45DA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FA0DFFC-165F-47CE-A064-3900CFEF9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F2CF95-DB9D-49F0-A472-F590D8EF2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0C98-47A7-4DC5-A4D7-2EA409D7DD39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0959398-3B3B-46CA-9B85-9809F099A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CC7EE7-48B4-4B0B-99A2-5AF095BC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D12AD-D93C-4A25-994F-7AD62A3B34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6955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A5702D9-03B6-403B-9DA8-724F440601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FA579D3-390C-47ED-8A16-761FA3212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0D8C1C-2348-41D2-8421-28E36EA9D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410C98-47A7-4DC5-A4D7-2EA409D7DD39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EAA3D8-8D0E-4C30-8B0A-78784ABCB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C8FE6F-A9FE-4FEA-84DC-D128702DD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D12AD-D93C-4A25-994F-7AD62A3B34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007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CB991-6BD3-42F2-8A94-1903E942543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3" r:id="rId4"/>
    <p:sldLayoutId id="2147483664" r:id="rId5"/>
    <p:sldLayoutId id="2147483666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79" r:id="rId13"/>
    <p:sldLayoutId id="2147483654" r:id="rId14"/>
    <p:sldLayoutId id="2147483655" r:id="rId15"/>
    <p:sldLayoutId id="2147483656" r:id="rId16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99A7FDD-4476-45A1-B5A8-2D7FDA83C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43BAE8-C542-4522-9DD0-1EC093FDA1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E6645F-1292-49CE-9B08-C95F6A25AA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10C98-47A7-4DC5-A4D7-2EA409D7DD39}" type="datetimeFigureOut">
              <a:rPr lang="zh-TW" altLang="en-US" smtClean="0"/>
              <a:t>2025/12/15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424C40-E7D8-443A-8749-673324A9B6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18E7DAC-0921-4885-952F-A7C3C79C8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D12AD-D93C-4A25-994F-7AD62A3B34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9610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34.png"/><Relationship Id="rId21" Type="http://schemas.openxmlformats.org/officeDocument/2006/relationships/image" Target="../media/image52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image" Target="../media/image33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19" Type="http://schemas.openxmlformats.org/officeDocument/2006/relationships/image" Target="../media/image50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2037241" y="0"/>
            <a:ext cx="5345723" cy="2571752"/>
            <a:chOff x="2198077" y="0"/>
            <a:chExt cx="5345723" cy="2571752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2198077" y="0"/>
              <a:ext cx="0" cy="257175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2643554" y="0"/>
              <a:ext cx="0" cy="257175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3089031" y="0"/>
              <a:ext cx="0" cy="257175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534508" y="0"/>
              <a:ext cx="0" cy="257175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3979985" y="0"/>
              <a:ext cx="0" cy="257175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4425462" y="0"/>
              <a:ext cx="0" cy="257175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4870939" y="0"/>
              <a:ext cx="0" cy="257175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316416" y="0"/>
              <a:ext cx="0" cy="257175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5761893" y="0"/>
              <a:ext cx="0" cy="257175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6207370" y="0"/>
              <a:ext cx="0" cy="257175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/>
          </p:nvCxnSpPr>
          <p:spPr>
            <a:xfrm>
              <a:off x="6652847" y="0"/>
              <a:ext cx="0" cy="257175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7098324" y="0"/>
              <a:ext cx="0" cy="257175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7543800" y="0"/>
              <a:ext cx="0" cy="2571752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/>
          <p:cNvSpPr/>
          <p:nvPr/>
        </p:nvSpPr>
        <p:spPr>
          <a:xfrm>
            <a:off x="1905000" y="652106"/>
            <a:ext cx="333876" cy="333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2748129" y="333359"/>
            <a:ext cx="333876" cy="3338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665340" y="438087"/>
            <a:ext cx="333876" cy="333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552519" y="660584"/>
            <a:ext cx="333876" cy="3338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334427" y="660584"/>
            <a:ext cx="333876" cy="3338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216026" y="500297"/>
            <a:ext cx="333876" cy="333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445923" y="298820"/>
            <a:ext cx="333876" cy="333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2190454" y="1162415"/>
            <a:ext cx="976248" cy="976248"/>
            <a:chOff x="2266654" y="1162415"/>
            <a:chExt cx="976248" cy="976248"/>
          </a:xfrm>
        </p:grpSpPr>
        <p:sp>
          <p:nvSpPr>
            <p:cNvPr id="32" name="矩形 31"/>
            <p:cNvSpPr/>
            <p:nvPr/>
          </p:nvSpPr>
          <p:spPr>
            <a:xfrm>
              <a:off x="2266654" y="1162415"/>
              <a:ext cx="976248" cy="97624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+mn-ea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431611" y="1327373"/>
              <a:ext cx="6463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3600" dirty="0">
                  <a:solidFill>
                    <a:schemeClr val="bg1"/>
                  </a:solidFill>
                  <a:latin typeface="+mn-ea"/>
                </a:rPr>
                <a:t>高</a:t>
              </a:r>
              <a:endParaRPr lang="zh-CN" altLang="en-US" sz="36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3578825" y="1162415"/>
            <a:ext cx="976248" cy="976248"/>
            <a:chOff x="3655025" y="1162415"/>
            <a:chExt cx="976248" cy="976248"/>
          </a:xfrm>
        </p:grpSpPr>
        <p:sp>
          <p:nvSpPr>
            <p:cNvPr id="33" name="矩形 32"/>
            <p:cNvSpPr/>
            <p:nvPr/>
          </p:nvSpPr>
          <p:spPr>
            <a:xfrm>
              <a:off x="3655025" y="1162415"/>
              <a:ext cx="976248" cy="976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+mn-ea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3859646" y="1309476"/>
              <a:ext cx="6463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3600" dirty="0">
                  <a:solidFill>
                    <a:schemeClr val="bg1"/>
                  </a:solidFill>
                  <a:latin typeface="+mn-ea"/>
                </a:rPr>
                <a:t>雄</a:t>
              </a:r>
              <a:endParaRPr lang="zh-CN" altLang="en-US" sz="36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903533" y="1151359"/>
            <a:ext cx="976248" cy="976248"/>
            <a:chOff x="4979733" y="1151359"/>
            <a:chExt cx="976248" cy="976248"/>
          </a:xfrm>
        </p:grpSpPr>
        <p:sp>
          <p:nvSpPr>
            <p:cNvPr id="35" name="矩形 34"/>
            <p:cNvSpPr/>
            <p:nvPr/>
          </p:nvSpPr>
          <p:spPr>
            <a:xfrm>
              <a:off x="4979733" y="1151359"/>
              <a:ext cx="976248" cy="97624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+mn-ea"/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5152071" y="1352166"/>
              <a:ext cx="6463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3600" dirty="0">
                  <a:solidFill>
                    <a:schemeClr val="bg1"/>
                  </a:solidFill>
                  <a:latin typeface="+mn-ea"/>
                </a:rPr>
                <a:t>科</a:t>
              </a:r>
              <a:endParaRPr lang="zh-CN" altLang="en-US" sz="36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6292416" y="1133569"/>
            <a:ext cx="976248" cy="976248"/>
            <a:chOff x="6368616" y="1133569"/>
            <a:chExt cx="976248" cy="976248"/>
          </a:xfrm>
        </p:grpSpPr>
        <p:sp>
          <p:nvSpPr>
            <p:cNvPr id="37" name="矩形 36"/>
            <p:cNvSpPr/>
            <p:nvPr/>
          </p:nvSpPr>
          <p:spPr>
            <a:xfrm>
              <a:off x="6368616" y="1133569"/>
              <a:ext cx="976248" cy="97624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latin typeface="+mn-ea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533573" y="1352166"/>
              <a:ext cx="6463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3600" dirty="0">
                  <a:solidFill>
                    <a:schemeClr val="bg1"/>
                  </a:solidFill>
                  <a:latin typeface="+mn-ea"/>
                </a:rPr>
                <a:t>大</a:t>
              </a:r>
              <a:endParaRPr lang="zh-CN" altLang="en-US" sz="3600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-9320" y="2571750"/>
            <a:ext cx="9153320" cy="2592770"/>
            <a:chOff x="-9320" y="2571750"/>
            <a:chExt cx="9153320" cy="2592770"/>
          </a:xfrm>
          <a:solidFill>
            <a:schemeClr val="bg1">
              <a:lumMod val="95000"/>
            </a:schemeClr>
          </a:solidFill>
        </p:grpSpPr>
        <p:sp>
          <p:nvSpPr>
            <p:cNvPr id="5" name="矩形 4"/>
            <p:cNvSpPr/>
            <p:nvPr/>
          </p:nvSpPr>
          <p:spPr>
            <a:xfrm>
              <a:off x="0" y="2571750"/>
              <a:ext cx="9144000" cy="259103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-9320" y="5031170"/>
              <a:ext cx="9153320" cy="13335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15311" y="2855530"/>
            <a:ext cx="8544910" cy="1981200"/>
            <a:chOff x="315311" y="2855530"/>
            <a:chExt cx="8544910" cy="1981200"/>
          </a:xfrm>
        </p:grpSpPr>
        <p:sp>
          <p:nvSpPr>
            <p:cNvPr id="48" name="矩形 47"/>
            <p:cNvSpPr/>
            <p:nvPr/>
          </p:nvSpPr>
          <p:spPr>
            <a:xfrm>
              <a:off x="315311" y="2855530"/>
              <a:ext cx="8544910" cy="1981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152400" sx="101000" sy="101000" algn="ctr" rotWithShape="0">
                <a:prstClr val="black">
                  <a:alpha val="33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4" name="组合 53"/>
            <p:cNvGrpSpPr/>
            <p:nvPr/>
          </p:nvGrpSpPr>
          <p:grpSpPr>
            <a:xfrm>
              <a:off x="407724" y="2956885"/>
              <a:ext cx="8377282" cy="1807585"/>
              <a:chOff x="407724" y="2956885"/>
              <a:chExt cx="8377282" cy="1807585"/>
            </a:xfrm>
          </p:grpSpPr>
          <p:sp>
            <p:nvSpPr>
              <p:cNvPr id="53" name="矩形 52"/>
              <p:cNvSpPr/>
              <p:nvPr/>
            </p:nvSpPr>
            <p:spPr>
              <a:xfrm>
                <a:off x="407724" y="2956885"/>
                <a:ext cx="8366772" cy="1797075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半闭框 50"/>
              <p:cNvSpPr/>
              <p:nvPr/>
            </p:nvSpPr>
            <p:spPr>
              <a:xfrm>
                <a:off x="407724" y="2956885"/>
                <a:ext cx="476250" cy="381000"/>
              </a:xfrm>
              <a:prstGeom prst="halfFrame">
                <a:avLst>
                  <a:gd name="adj1" fmla="val 26436"/>
                  <a:gd name="adj2" fmla="val 24712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半闭框 51"/>
              <p:cNvSpPr/>
              <p:nvPr/>
            </p:nvSpPr>
            <p:spPr>
              <a:xfrm flipH="1" flipV="1">
                <a:off x="8308756" y="4383470"/>
                <a:ext cx="476250" cy="381000"/>
              </a:xfrm>
              <a:prstGeom prst="halfFrame">
                <a:avLst>
                  <a:gd name="adj1" fmla="val 26436"/>
                  <a:gd name="adj2" fmla="val 24712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57" name="矩形 56"/>
          <p:cNvSpPr/>
          <p:nvPr/>
        </p:nvSpPr>
        <p:spPr>
          <a:xfrm flipH="1">
            <a:off x="1828800" y="3105150"/>
            <a:ext cx="5760000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TW" altLang="en-US" sz="49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計算機概論</a:t>
            </a:r>
            <a:endParaRPr lang="zh-CN" altLang="en-US" sz="4900" dirty="0">
              <a:solidFill>
                <a:schemeClr val="tx1">
                  <a:lumMod val="75000"/>
                  <a:lumOff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485BC9E-C498-44FE-9915-2DE86FD6FEB7}"/>
              </a:ext>
            </a:extLst>
          </p:cNvPr>
          <p:cNvSpPr txBox="1"/>
          <p:nvPr/>
        </p:nvSpPr>
        <p:spPr>
          <a:xfrm>
            <a:off x="2037241" y="4171950"/>
            <a:ext cx="5125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期末程式測驗 參考題目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0063" y="-17909"/>
            <a:ext cx="3011049" cy="4589909"/>
            <a:chOff x="-10063" y="-17909"/>
            <a:chExt cx="3011049" cy="4589909"/>
          </a:xfrm>
        </p:grpSpPr>
        <p:sp>
          <p:nvSpPr>
            <p:cNvPr id="35" name="任意多边形 34"/>
            <p:cNvSpPr/>
            <p:nvPr/>
          </p:nvSpPr>
          <p:spPr bwMode="auto">
            <a:xfrm flipH="1">
              <a:off x="0" y="-17909"/>
              <a:ext cx="3000986" cy="4589909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 bwMode="auto">
            <a:xfrm flipH="1">
              <a:off x="-10063" y="-8284"/>
              <a:ext cx="2736909" cy="4576541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3" name="任意多边形 22"/>
          <p:cNvSpPr/>
          <p:nvPr/>
        </p:nvSpPr>
        <p:spPr bwMode="auto">
          <a:xfrm flipH="1">
            <a:off x="-17382" y="2364423"/>
            <a:ext cx="1814585" cy="2568862"/>
          </a:xfrm>
          <a:custGeom>
            <a:avLst/>
            <a:gdLst>
              <a:gd name="connsiteX0" fmla="*/ 1252208 w 1252208"/>
              <a:gd name="connsiteY0" fmla="*/ 0 h 1683045"/>
              <a:gd name="connsiteX1" fmla="*/ 1252208 w 1252208"/>
              <a:gd name="connsiteY1" fmla="*/ 1158717 h 1683045"/>
              <a:gd name="connsiteX2" fmla="*/ 655199 w 1252208"/>
              <a:gd name="connsiteY2" fmla="*/ 1683045 h 1683045"/>
              <a:gd name="connsiteX3" fmla="*/ 0 w 1252208"/>
              <a:gd name="connsiteY3" fmla="*/ 1106757 h 168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2208" h="1683045">
                <a:moveTo>
                  <a:pt x="1252208" y="0"/>
                </a:moveTo>
                <a:lnTo>
                  <a:pt x="1252208" y="1158717"/>
                </a:lnTo>
                <a:lnTo>
                  <a:pt x="655199" y="1683045"/>
                </a:lnTo>
                <a:lnTo>
                  <a:pt x="0" y="11067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304800" y="1123950"/>
            <a:ext cx="1774584" cy="769441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0</a:t>
            </a:r>
            <a:r>
              <a:rPr lang="en-US" altLang="zh-TW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1</a:t>
            </a:r>
            <a:endParaRPr lang="zh-CN" altLang="en-US" sz="4400" b="1" dirty="0">
              <a:solidFill>
                <a:schemeClr val="accent2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2" name="TextBox 48"/>
          <p:cNvSpPr txBox="1"/>
          <p:nvPr/>
        </p:nvSpPr>
        <p:spPr>
          <a:xfrm>
            <a:off x="2815722" y="2052663"/>
            <a:ext cx="569962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考題說明</a:t>
            </a:r>
            <a:r>
              <a:rPr lang="en-US" altLang="zh-TW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-1</a:t>
            </a:r>
          </a:p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十進位轉二進位</a:t>
            </a:r>
            <a:endParaRPr lang="en-US" altLang="zh-TW" sz="4800" dirty="0">
              <a:solidFill>
                <a:schemeClr val="accent1">
                  <a:lumMod val="75000"/>
                  <a:lumOff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B4BC34-459D-4968-A6CE-2A9CEFE8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194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46CCA44-FC7F-4562-B489-EEF3DDA32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27B28B-8196-446C-9D41-DBE6C0FAC4C8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請設計一程式，此程式會請使用者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輸入一個十進位數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不限整數或小數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，請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印出該數的二進位數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 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輸入的範圍為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~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100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，不會有循環小數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輸入範例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輸出範例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更多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輸入輸出範例請參考下一頁。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BC4FAE0-817A-4745-9968-16392BC25251}"/>
              </a:ext>
            </a:extLst>
          </p:cNvPr>
          <p:cNvSpPr txBox="1"/>
          <p:nvPr/>
        </p:nvSpPr>
        <p:spPr>
          <a:xfrm>
            <a:off x="5410200" y="3486150"/>
            <a:ext cx="32330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執行結果參考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EB3C82F-D014-4809-B4ED-59AE7F2940D0}"/>
              </a:ext>
            </a:extLst>
          </p:cNvPr>
          <p:cNvSpPr txBox="1"/>
          <p:nvPr/>
        </p:nvSpPr>
        <p:spPr>
          <a:xfrm>
            <a:off x="2159014" y="3510249"/>
            <a:ext cx="323309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15.625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75F44B-E516-4CCE-8A35-328EDB2A74D3}"/>
              </a:ext>
            </a:extLst>
          </p:cNvPr>
          <p:cNvSpPr txBox="1"/>
          <p:nvPr/>
        </p:nvSpPr>
        <p:spPr>
          <a:xfrm>
            <a:off x="2159013" y="3967449"/>
            <a:ext cx="3233097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1111.101</a:t>
            </a:r>
          </a:p>
          <a:p>
            <a:endParaRPr lang="pt-BR" altLang="zh-TW" dirty="0">
              <a:solidFill>
                <a:schemeClr val="bg1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134469A-422A-4325-88E7-C81052AC6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2394" y="3839909"/>
            <a:ext cx="2329606" cy="985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0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46CCA44-FC7F-4562-B489-EEF3DDA32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7EC91AD4-C540-4ACD-BD7D-BE453974C01B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輸入範例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輸出範例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輸入範例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輸出範例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38D795E-089C-4DEA-89F8-D5823BA27D87}"/>
              </a:ext>
            </a:extLst>
          </p:cNvPr>
          <p:cNvSpPr txBox="1"/>
          <p:nvPr/>
        </p:nvSpPr>
        <p:spPr>
          <a:xfrm>
            <a:off x="2202620" y="1885950"/>
            <a:ext cx="323309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9B441BDB-80AE-4649-AA2D-157112733A46}"/>
              </a:ext>
            </a:extLst>
          </p:cNvPr>
          <p:cNvSpPr txBox="1"/>
          <p:nvPr/>
        </p:nvSpPr>
        <p:spPr>
          <a:xfrm>
            <a:off x="2202619" y="2343150"/>
            <a:ext cx="3233097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101</a:t>
            </a:r>
          </a:p>
          <a:p>
            <a:endParaRPr lang="pt-BR" altLang="zh-TW" dirty="0">
              <a:solidFill>
                <a:schemeClr val="bg1"/>
              </a:solidFill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C65DB16-8F25-4CD6-85CE-B4EF31180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176445"/>
            <a:ext cx="2389477" cy="979740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CD319560-1D6B-4FD6-85B6-94A45F5A07F7}"/>
              </a:ext>
            </a:extLst>
          </p:cNvPr>
          <p:cNvSpPr txBox="1"/>
          <p:nvPr/>
        </p:nvSpPr>
        <p:spPr>
          <a:xfrm>
            <a:off x="2202620" y="3601819"/>
            <a:ext cx="323309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0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C7F550C-8A77-4C9B-8DF3-E9BA97E6CB51}"/>
              </a:ext>
            </a:extLst>
          </p:cNvPr>
          <p:cNvSpPr txBox="1"/>
          <p:nvPr/>
        </p:nvSpPr>
        <p:spPr>
          <a:xfrm>
            <a:off x="2202619" y="4059019"/>
            <a:ext cx="3233097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0</a:t>
            </a:r>
          </a:p>
          <a:p>
            <a:endParaRPr lang="pt-BR" altLang="zh-TW" dirty="0">
              <a:solidFill>
                <a:schemeClr val="bg1"/>
              </a:solidFill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B96537F4-32FC-49C6-A6A3-D18A57162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3638550"/>
            <a:ext cx="2389477" cy="103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4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46CCA44-FC7F-4562-B489-EEF3DDA32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7EC91AD4-C540-4ACD-BD7D-BE453974C01B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更多測資範例如下：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509AA2B6-A07E-CCD0-FFB2-9054DD8370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999"/>
          <a:stretch/>
        </p:blipFill>
        <p:spPr bwMode="auto">
          <a:xfrm>
            <a:off x="1600200" y="1984375"/>
            <a:ext cx="1778635" cy="5873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F2FD6968-7E77-A8C7-B1A4-DFECE9C1932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651"/>
          <a:stretch/>
        </p:blipFill>
        <p:spPr bwMode="auto">
          <a:xfrm>
            <a:off x="3657600" y="1984374"/>
            <a:ext cx="1805940" cy="5873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4D1DA005-C20E-2125-837E-77BB9C0F48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1643"/>
          <a:stretch/>
        </p:blipFill>
        <p:spPr bwMode="auto">
          <a:xfrm>
            <a:off x="5779677" y="2003741"/>
            <a:ext cx="1816735" cy="5486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8E1ED776-86CE-69AB-693E-7D917A81379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1592"/>
          <a:stretch/>
        </p:blipFill>
        <p:spPr bwMode="auto">
          <a:xfrm>
            <a:off x="1583690" y="2670175"/>
            <a:ext cx="1795145" cy="5651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6EC44A26-4302-FF80-EF23-7FF969FA682D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9219"/>
          <a:stretch/>
        </p:blipFill>
        <p:spPr bwMode="auto">
          <a:xfrm>
            <a:off x="3665317" y="2670175"/>
            <a:ext cx="1833245" cy="5816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E02FC9F5-09B7-71C4-A42A-9F7E508434F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40584"/>
          <a:stretch/>
        </p:blipFill>
        <p:spPr bwMode="auto">
          <a:xfrm>
            <a:off x="5779042" y="2670175"/>
            <a:ext cx="1817370" cy="5651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73ED5A61-C567-010B-2D08-9D21E7200C8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40999"/>
          <a:stretch/>
        </p:blipFill>
        <p:spPr bwMode="auto">
          <a:xfrm>
            <a:off x="1577866" y="3337025"/>
            <a:ext cx="1816735" cy="58737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2D82A9B2-2BB7-33F1-737A-06776FAE9416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40486"/>
          <a:stretch/>
        </p:blipFill>
        <p:spPr bwMode="auto">
          <a:xfrm>
            <a:off x="3665317" y="3337025"/>
            <a:ext cx="1844040" cy="5600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02A0A699-5390-6E6B-4D3A-A160B0B9F1FA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t="38782"/>
          <a:stretch/>
        </p:blipFill>
        <p:spPr bwMode="auto">
          <a:xfrm>
            <a:off x="5771104" y="3337025"/>
            <a:ext cx="1833245" cy="5924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F4FABC03-647E-EFD3-2176-15A33F0741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7866" y="4026100"/>
            <a:ext cx="1768475" cy="571500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29D9ADB9-C674-4302-DB98-AB24D361F0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0" y="4048325"/>
            <a:ext cx="1833880" cy="549275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FA6AE0F1-48B4-493B-FC17-BD460DB2F99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84983" y="4031885"/>
            <a:ext cx="1806575" cy="56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567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0063" y="-17909"/>
            <a:ext cx="3011049" cy="4589909"/>
            <a:chOff x="-10063" y="-17909"/>
            <a:chExt cx="3011049" cy="4589909"/>
          </a:xfrm>
        </p:grpSpPr>
        <p:sp>
          <p:nvSpPr>
            <p:cNvPr id="35" name="任意多边形 34"/>
            <p:cNvSpPr/>
            <p:nvPr/>
          </p:nvSpPr>
          <p:spPr bwMode="auto">
            <a:xfrm flipH="1">
              <a:off x="0" y="-17909"/>
              <a:ext cx="3000986" cy="4589909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 bwMode="auto">
            <a:xfrm flipH="1">
              <a:off x="-10063" y="-8284"/>
              <a:ext cx="2736909" cy="4576541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3" name="任意多边形 22"/>
          <p:cNvSpPr/>
          <p:nvPr/>
        </p:nvSpPr>
        <p:spPr bwMode="auto">
          <a:xfrm flipH="1">
            <a:off x="-17382" y="2364423"/>
            <a:ext cx="1814585" cy="2568862"/>
          </a:xfrm>
          <a:custGeom>
            <a:avLst/>
            <a:gdLst>
              <a:gd name="connsiteX0" fmla="*/ 1252208 w 1252208"/>
              <a:gd name="connsiteY0" fmla="*/ 0 h 1683045"/>
              <a:gd name="connsiteX1" fmla="*/ 1252208 w 1252208"/>
              <a:gd name="connsiteY1" fmla="*/ 1158717 h 1683045"/>
              <a:gd name="connsiteX2" fmla="*/ 655199 w 1252208"/>
              <a:gd name="connsiteY2" fmla="*/ 1683045 h 1683045"/>
              <a:gd name="connsiteX3" fmla="*/ 0 w 1252208"/>
              <a:gd name="connsiteY3" fmla="*/ 1106757 h 168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2208" h="1683045">
                <a:moveTo>
                  <a:pt x="1252208" y="0"/>
                </a:moveTo>
                <a:lnTo>
                  <a:pt x="1252208" y="1158717"/>
                </a:lnTo>
                <a:lnTo>
                  <a:pt x="655199" y="1683045"/>
                </a:lnTo>
                <a:lnTo>
                  <a:pt x="0" y="11067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304800" y="1123950"/>
            <a:ext cx="1774584" cy="769441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0</a:t>
            </a:r>
            <a:r>
              <a:rPr lang="en-US" altLang="zh-TW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2</a:t>
            </a:r>
            <a:endParaRPr lang="zh-CN" altLang="en-US" sz="4400" b="1" dirty="0">
              <a:solidFill>
                <a:schemeClr val="accent2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2" name="TextBox 48"/>
          <p:cNvSpPr txBox="1"/>
          <p:nvPr/>
        </p:nvSpPr>
        <p:spPr>
          <a:xfrm>
            <a:off x="2815722" y="2052663"/>
            <a:ext cx="569962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考題說明</a:t>
            </a:r>
            <a:r>
              <a:rPr lang="en-US" altLang="zh-TW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-2</a:t>
            </a:r>
          </a:p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質數相加</a:t>
            </a:r>
            <a:endParaRPr lang="zh-CN" altLang="en-US" sz="4800" dirty="0">
              <a:solidFill>
                <a:schemeClr val="accent1">
                  <a:lumMod val="75000"/>
                  <a:lumOff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B4BC34-459D-4968-A6CE-2A9CEFE8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614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6E12D43-32D2-49CE-9245-B068A7FDF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0184F9-D37B-42D9-A6DA-136EAAEEE768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請設計一程式，使用者會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輸入兩個正整數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與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，請計算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到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範圍內的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質數總和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含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與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也計入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，印出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計算過程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與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最終結果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endParaRPr lang="en-US" altLang="zh-TW" sz="20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(a &lt; b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，不需防呆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F150B46-80F1-4994-A740-629CFA8DFCFA}"/>
              </a:ext>
            </a:extLst>
          </p:cNvPr>
          <p:cNvSpPr txBox="1"/>
          <p:nvPr/>
        </p:nvSpPr>
        <p:spPr>
          <a:xfrm>
            <a:off x="2202620" y="3486150"/>
            <a:ext cx="3233096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1 23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91DC611-391E-4606-ACB3-04203A25096E}"/>
              </a:ext>
            </a:extLst>
          </p:cNvPr>
          <p:cNvSpPr txBox="1"/>
          <p:nvPr/>
        </p:nvSpPr>
        <p:spPr>
          <a:xfrm>
            <a:off x="2202619" y="3943350"/>
            <a:ext cx="3233097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pt-BR" altLang="zh-TW" dirty="0">
                <a:solidFill>
                  <a:schemeClr val="bg1"/>
                </a:solidFill>
              </a:rPr>
              <a:t>2+3+5+7+11+13+17+19+23=100</a:t>
            </a:r>
          </a:p>
          <a:p>
            <a:endParaRPr lang="pt-BR" altLang="zh-TW" dirty="0">
              <a:solidFill>
                <a:schemeClr val="bg1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F87A778-E0DF-4636-8041-1C58C1D1C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760308"/>
            <a:ext cx="2378591" cy="100695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6059404-C154-4374-92D4-2E7238C94B15}"/>
              </a:ext>
            </a:extLst>
          </p:cNvPr>
          <p:cNvSpPr txBox="1"/>
          <p:nvPr/>
        </p:nvSpPr>
        <p:spPr>
          <a:xfrm>
            <a:off x="5410199" y="3409950"/>
            <a:ext cx="32330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執行結果參考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530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6E12D43-32D2-49CE-9245-B068A7FDF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B0184F9-D37B-42D9-A6DA-136EAAEEE768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更多測資範例如下：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06C8C83-CECF-E4D2-22F1-418E252F90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453" b="5425"/>
          <a:stretch/>
        </p:blipFill>
        <p:spPr>
          <a:xfrm>
            <a:off x="1143000" y="2089550"/>
            <a:ext cx="2367280" cy="58108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EDD4FFF-F0F7-6715-FA7B-378D1327F2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911" b="1744"/>
          <a:stretch/>
        </p:blipFill>
        <p:spPr>
          <a:xfrm>
            <a:off x="3747770" y="2089550"/>
            <a:ext cx="2426970" cy="58108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892A838B-4F66-BD75-89E6-398EBE62AF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9994"/>
          <a:stretch/>
        </p:blipFill>
        <p:spPr>
          <a:xfrm>
            <a:off x="6292215" y="2089549"/>
            <a:ext cx="2388870" cy="58108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242928C3-1B77-1725-2421-C1C7D90B5C1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6474" b="7897"/>
          <a:stretch/>
        </p:blipFill>
        <p:spPr>
          <a:xfrm>
            <a:off x="1143000" y="2880065"/>
            <a:ext cx="2405380" cy="58108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5B7A3B65-30A1-CADC-D5C3-F4468B78D5D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7820" b="5057"/>
          <a:stretch/>
        </p:blipFill>
        <p:spPr>
          <a:xfrm>
            <a:off x="3747770" y="2890136"/>
            <a:ext cx="2388870" cy="581087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F582D9F-1A22-8F1F-5DCA-A0CE26042C0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8146"/>
          <a:stretch/>
        </p:blipFill>
        <p:spPr>
          <a:xfrm>
            <a:off x="6292215" y="2896298"/>
            <a:ext cx="2388870" cy="59897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EEE5C649-2794-5290-41B5-D4F420144B9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41639"/>
          <a:stretch/>
        </p:blipFill>
        <p:spPr>
          <a:xfrm>
            <a:off x="1143000" y="3667062"/>
            <a:ext cx="2443480" cy="58108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42015587-A68A-84AC-B9CE-4944C0CA500F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41639"/>
          <a:stretch/>
        </p:blipFill>
        <p:spPr>
          <a:xfrm>
            <a:off x="3747770" y="3667062"/>
            <a:ext cx="2378075" cy="58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2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0063" y="-17909"/>
            <a:ext cx="3011049" cy="4589909"/>
            <a:chOff x="-10063" y="-17909"/>
            <a:chExt cx="3011049" cy="4589909"/>
          </a:xfrm>
        </p:grpSpPr>
        <p:sp>
          <p:nvSpPr>
            <p:cNvPr id="35" name="任意多边形 34"/>
            <p:cNvSpPr/>
            <p:nvPr/>
          </p:nvSpPr>
          <p:spPr bwMode="auto">
            <a:xfrm flipH="1">
              <a:off x="0" y="-17909"/>
              <a:ext cx="3000986" cy="4589909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 bwMode="auto">
            <a:xfrm flipH="1">
              <a:off x="-10063" y="-8284"/>
              <a:ext cx="2736909" cy="4576541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3" name="任意多边形 22"/>
          <p:cNvSpPr/>
          <p:nvPr/>
        </p:nvSpPr>
        <p:spPr bwMode="auto">
          <a:xfrm flipH="1">
            <a:off x="-17382" y="2364423"/>
            <a:ext cx="1814585" cy="2568862"/>
          </a:xfrm>
          <a:custGeom>
            <a:avLst/>
            <a:gdLst>
              <a:gd name="connsiteX0" fmla="*/ 1252208 w 1252208"/>
              <a:gd name="connsiteY0" fmla="*/ 0 h 1683045"/>
              <a:gd name="connsiteX1" fmla="*/ 1252208 w 1252208"/>
              <a:gd name="connsiteY1" fmla="*/ 1158717 h 1683045"/>
              <a:gd name="connsiteX2" fmla="*/ 655199 w 1252208"/>
              <a:gd name="connsiteY2" fmla="*/ 1683045 h 1683045"/>
              <a:gd name="connsiteX3" fmla="*/ 0 w 1252208"/>
              <a:gd name="connsiteY3" fmla="*/ 1106757 h 168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2208" h="1683045">
                <a:moveTo>
                  <a:pt x="1252208" y="0"/>
                </a:moveTo>
                <a:lnTo>
                  <a:pt x="1252208" y="1158717"/>
                </a:lnTo>
                <a:lnTo>
                  <a:pt x="655199" y="1683045"/>
                </a:lnTo>
                <a:lnTo>
                  <a:pt x="0" y="11067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304800" y="1123950"/>
            <a:ext cx="1774584" cy="769441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0</a:t>
            </a:r>
            <a:r>
              <a:rPr lang="en-US" altLang="zh-TW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3</a:t>
            </a:r>
            <a:endParaRPr lang="zh-CN" altLang="en-US" sz="4400" b="1" dirty="0">
              <a:solidFill>
                <a:schemeClr val="accent2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2" name="TextBox 48"/>
          <p:cNvSpPr txBox="1"/>
          <p:nvPr/>
        </p:nvSpPr>
        <p:spPr>
          <a:xfrm>
            <a:off x="2815722" y="2052663"/>
            <a:ext cx="569962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考題說明</a:t>
            </a:r>
            <a:r>
              <a:rPr lang="en-US" altLang="zh-TW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-3</a:t>
            </a:r>
          </a:p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畫圖形</a:t>
            </a:r>
            <a:endParaRPr lang="zh-CN" altLang="en-US" sz="4800" dirty="0">
              <a:solidFill>
                <a:schemeClr val="accent1">
                  <a:lumMod val="75000"/>
                  <a:lumOff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B4BC34-459D-4968-A6CE-2A9CEFE8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697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角三角形 4">
            <a:extLst>
              <a:ext uri="{FF2B5EF4-FFF2-40B4-BE49-F238E27FC236}">
                <a16:creationId xmlns:a16="http://schemas.microsoft.com/office/drawing/2014/main" id="{4B0FB7BC-C012-E850-67C9-C5402519BA6E}"/>
              </a:ext>
            </a:extLst>
          </p:cNvPr>
          <p:cNvSpPr/>
          <p:nvPr/>
        </p:nvSpPr>
        <p:spPr>
          <a:xfrm flipV="1">
            <a:off x="952500" y="2571750"/>
            <a:ext cx="914400" cy="9144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4127D0-F322-44FB-A921-16645238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10</a:t>
            </a:fld>
            <a:endParaRPr lang="zh-CN" altLang="en-US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9ACEF983-736A-4102-A148-581B9F4F3270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請設計一程式，此程式會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不斷要求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使用者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輸入「模式」與「大小」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，請依照模式與大小，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使用「半形星號」印出指定的圖案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，直到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輸入的「模式」為 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-1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則程式結束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輸入模式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&gt;=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-1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、大小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，不需防呆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輸入輸出範例請參考下一頁。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</a:t>
            </a:r>
            <a:endParaRPr lang="en-US" altLang="zh-TW" sz="20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直角三角形 2">
            <a:extLst>
              <a:ext uri="{FF2B5EF4-FFF2-40B4-BE49-F238E27FC236}">
                <a16:creationId xmlns:a16="http://schemas.microsoft.com/office/drawing/2014/main" id="{225BE1BC-C810-49D7-E76D-EAFF0E784D9F}"/>
              </a:ext>
            </a:extLst>
          </p:cNvPr>
          <p:cNvSpPr/>
          <p:nvPr/>
        </p:nvSpPr>
        <p:spPr>
          <a:xfrm>
            <a:off x="2482082" y="2571755"/>
            <a:ext cx="914400" cy="9144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FB8C5E17-9729-2A0A-E86C-FC18B0F8CF6A}"/>
              </a:ext>
            </a:extLst>
          </p:cNvPr>
          <p:cNvSpPr/>
          <p:nvPr/>
        </p:nvSpPr>
        <p:spPr>
          <a:xfrm flipH="1">
            <a:off x="3962400" y="2571750"/>
            <a:ext cx="914400" cy="9144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9F1F4661-EC84-8D51-E035-DFF082C4F4C8}"/>
              </a:ext>
            </a:extLst>
          </p:cNvPr>
          <p:cNvSpPr/>
          <p:nvPr/>
        </p:nvSpPr>
        <p:spPr>
          <a:xfrm flipH="1" flipV="1">
            <a:off x="5524500" y="2571750"/>
            <a:ext cx="914400" cy="914400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288EB6B-16A3-4303-604A-4458BA8DAFA6}"/>
              </a:ext>
            </a:extLst>
          </p:cNvPr>
          <p:cNvSpPr txBox="1"/>
          <p:nvPr/>
        </p:nvSpPr>
        <p:spPr>
          <a:xfrm>
            <a:off x="914400" y="3553138"/>
            <a:ext cx="746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模式 </a:t>
            </a:r>
            <a:r>
              <a:rPr lang="en-US" altLang="zh-TW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       模式 </a:t>
            </a:r>
            <a:r>
              <a:rPr lang="en-US" altLang="zh-TW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zh-TW" alt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        模式 </a:t>
            </a:r>
            <a:r>
              <a:rPr lang="en-US" altLang="zh-TW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  <a:r>
              <a:rPr lang="zh-TW" alt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       模式 </a:t>
            </a:r>
            <a:r>
              <a:rPr lang="en-US" altLang="zh-TW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4</a:t>
            </a:r>
            <a:r>
              <a:rPr lang="zh-TW" altLang="en-US" sz="18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     其他模式</a:t>
            </a:r>
            <a:endParaRPr lang="en-US" altLang="zh-TW" sz="18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4" name="菱形 3">
            <a:extLst>
              <a:ext uri="{FF2B5EF4-FFF2-40B4-BE49-F238E27FC236}">
                <a16:creationId xmlns:a16="http://schemas.microsoft.com/office/drawing/2014/main" id="{09D2D927-8C97-D488-ADF4-65A37CA998EB}"/>
              </a:ext>
            </a:extLst>
          </p:cNvPr>
          <p:cNvSpPr/>
          <p:nvPr/>
        </p:nvSpPr>
        <p:spPr>
          <a:xfrm>
            <a:off x="7184571" y="2541658"/>
            <a:ext cx="816429" cy="981388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2001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4127D0-F322-44FB-A921-16645238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11</a:t>
            </a:fld>
            <a:endParaRPr lang="zh-CN" altLang="en-US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9ACEF983-736A-4102-A148-581B9F4F3270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5033D5B-10F6-826E-B989-86909E97D273}"/>
              </a:ext>
            </a:extLst>
          </p:cNvPr>
          <p:cNvSpPr txBox="1"/>
          <p:nvPr/>
        </p:nvSpPr>
        <p:spPr>
          <a:xfrm>
            <a:off x="914400" y="1817990"/>
            <a:ext cx="1066800" cy="203132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0 5</a:t>
            </a:r>
          </a:p>
          <a:p>
            <a:r>
              <a:rPr lang="en-US" altLang="zh-TW" dirty="0">
                <a:solidFill>
                  <a:srgbClr val="00C1EE"/>
                </a:solidFill>
              </a:rPr>
              <a:t>1 2</a:t>
            </a:r>
          </a:p>
          <a:p>
            <a:r>
              <a:rPr lang="en-US" altLang="zh-TW" dirty="0">
                <a:solidFill>
                  <a:srgbClr val="FF972A"/>
                </a:solidFill>
              </a:rPr>
              <a:t>2 3</a:t>
            </a:r>
          </a:p>
          <a:p>
            <a:r>
              <a:rPr lang="en-US" altLang="zh-TW" dirty="0">
                <a:solidFill>
                  <a:srgbClr val="FF66FF"/>
                </a:solidFill>
              </a:rPr>
              <a:t>3 4</a:t>
            </a:r>
          </a:p>
          <a:p>
            <a:r>
              <a:rPr lang="en-US" altLang="zh-TW" dirty="0">
                <a:solidFill>
                  <a:srgbClr val="00B050"/>
                </a:solidFill>
              </a:rPr>
              <a:t>4 5</a:t>
            </a:r>
          </a:p>
          <a:p>
            <a:r>
              <a:rPr lang="en-US" altLang="zh-TW" dirty="0">
                <a:solidFill>
                  <a:srgbClr val="FFFF00"/>
                </a:solidFill>
              </a:rPr>
              <a:t>4 1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-1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FC26106-8ED3-9A47-6A74-8585D8DAB0C4}"/>
              </a:ext>
            </a:extLst>
          </p:cNvPr>
          <p:cNvSpPr txBox="1"/>
          <p:nvPr/>
        </p:nvSpPr>
        <p:spPr>
          <a:xfrm>
            <a:off x="3048000" y="1809750"/>
            <a:ext cx="1066800" cy="31700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zh-TW" altLang="en-US" sz="800" dirty="0">
                <a:solidFill>
                  <a:schemeClr val="bg1"/>
                </a:solidFill>
                <a:latin typeface="OCR A Extended" panose="02010509020102010303" pitchFamily="50" charset="0"/>
              </a:rPr>
              <a:t>    </a:t>
            </a:r>
            <a:r>
              <a:rPr lang="pt-BR" altLang="zh-TW" sz="800" dirty="0">
                <a:solidFill>
                  <a:schemeClr val="bg1"/>
                </a:solidFill>
                <a:latin typeface="OCR A Extended" panose="02010509020102010303" pitchFamily="50" charset="0"/>
              </a:rPr>
              <a:t>*</a:t>
            </a:r>
          </a:p>
          <a:p>
            <a:r>
              <a:rPr lang="pt-BR" altLang="zh-TW" sz="800" dirty="0">
                <a:solidFill>
                  <a:schemeClr val="bg1"/>
                </a:solidFill>
                <a:latin typeface="OCR A Extended" panose="02010509020102010303" pitchFamily="50" charset="0"/>
              </a:rPr>
              <a:t>   * *</a:t>
            </a:r>
          </a:p>
          <a:p>
            <a:r>
              <a:rPr lang="pt-BR" altLang="zh-TW" sz="800" dirty="0">
                <a:solidFill>
                  <a:schemeClr val="bg1"/>
                </a:solidFill>
                <a:latin typeface="OCR A Extended" panose="02010509020102010303" pitchFamily="50" charset="0"/>
              </a:rPr>
              <a:t>  * * *</a:t>
            </a:r>
          </a:p>
          <a:p>
            <a:r>
              <a:rPr lang="pt-BR" altLang="zh-TW" sz="800" dirty="0">
                <a:solidFill>
                  <a:schemeClr val="bg1"/>
                </a:solidFill>
                <a:latin typeface="OCR A Extended" panose="02010509020102010303" pitchFamily="50" charset="0"/>
              </a:rPr>
              <a:t> * * * *</a:t>
            </a:r>
          </a:p>
          <a:p>
            <a:r>
              <a:rPr lang="pt-BR" altLang="zh-TW" sz="800" dirty="0">
                <a:solidFill>
                  <a:schemeClr val="bg1"/>
                </a:solidFill>
                <a:latin typeface="OCR A Extended" panose="02010509020102010303" pitchFamily="50" charset="0"/>
              </a:rPr>
              <a:t>* * * * *</a:t>
            </a:r>
          </a:p>
          <a:p>
            <a:r>
              <a:rPr lang="pt-BR" altLang="zh-TW" sz="800" dirty="0">
                <a:solidFill>
                  <a:schemeClr val="bg1"/>
                </a:solidFill>
                <a:latin typeface="OCR A Extended" panose="02010509020102010303" pitchFamily="50" charset="0"/>
              </a:rPr>
              <a:t> * * * *</a:t>
            </a:r>
          </a:p>
          <a:p>
            <a:r>
              <a:rPr lang="pt-BR" altLang="zh-TW" sz="800" dirty="0">
                <a:solidFill>
                  <a:schemeClr val="bg1"/>
                </a:solidFill>
                <a:latin typeface="OCR A Extended" panose="02010509020102010303" pitchFamily="50" charset="0"/>
              </a:rPr>
              <a:t>  * * *</a:t>
            </a:r>
          </a:p>
          <a:p>
            <a:r>
              <a:rPr lang="pt-BR" altLang="zh-TW" sz="800" dirty="0">
                <a:solidFill>
                  <a:schemeClr val="bg1"/>
                </a:solidFill>
                <a:latin typeface="OCR A Extended" panose="02010509020102010303" pitchFamily="50" charset="0"/>
              </a:rPr>
              <a:t>   * *</a:t>
            </a:r>
          </a:p>
          <a:p>
            <a:r>
              <a:rPr lang="pt-BR" altLang="zh-TW" sz="800" dirty="0">
                <a:solidFill>
                  <a:schemeClr val="bg1"/>
                </a:solidFill>
                <a:latin typeface="OCR A Extended" panose="02010509020102010303" pitchFamily="50" charset="0"/>
              </a:rPr>
              <a:t>    *</a:t>
            </a:r>
          </a:p>
          <a:p>
            <a:r>
              <a:rPr lang="pt-BR" altLang="zh-TW" sz="800" dirty="0">
                <a:solidFill>
                  <a:srgbClr val="00C1EE"/>
                </a:solidFill>
                <a:latin typeface="OCR A Extended" panose="02010509020102010303" pitchFamily="50" charset="0"/>
              </a:rPr>
              <a:t>**</a:t>
            </a:r>
          </a:p>
          <a:p>
            <a:r>
              <a:rPr lang="pt-BR" altLang="zh-TW" sz="800" dirty="0">
                <a:solidFill>
                  <a:srgbClr val="00C1EE"/>
                </a:solidFill>
                <a:latin typeface="OCR A Extended" panose="02010509020102010303" pitchFamily="50" charset="0"/>
              </a:rPr>
              <a:t>*</a:t>
            </a:r>
          </a:p>
          <a:p>
            <a:r>
              <a:rPr lang="pt-BR" altLang="zh-TW" sz="800" dirty="0">
                <a:solidFill>
                  <a:srgbClr val="FF972A"/>
                </a:solidFill>
                <a:latin typeface="OCR A Extended" panose="02010509020102010303" pitchFamily="50" charset="0"/>
              </a:rPr>
              <a:t>*</a:t>
            </a:r>
          </a:p>
          <a:p>
            <a:r>
              <a:rPr lang="pt-BR" altLang="zh-TW" sz="800" dirty="0">
                <a:solidFill>
                  <a:srgbClr val="FF972A"/>
                </a:solidFill>
                <a:latin typeface="OCR A Extended" panose="02010509020102010303" pitchFamily="50" charset="0"/>
              </a:rPr>
              <a:t>**</a:t>
            </a:r>
          </a:p>
          <a:p>
            <a:r>
              <a:rPr lang="pt-BR" altLang="zh-TW" sz="800" dirty="0">
                <a:solidFill>
                  <a:srgbClr val="FF972A"/>
                </a:solidFill>
                <a:latin typeface="OCR A Extended" panose="02010509020102010303" pitchFamily="50" charset="0"/>
              </a:rPr>
              <a:t>***</a:t>
            </a:r>
          </a:p>
          <a:p>
            <a:r>
              <a:rPr lang="pt-BR" altLang="zh-TW" sz="800" dirty="0">
                <a:solidFill>
                  <a:srgbClr val="FF66FF"/>
                </a:solidFill>
                <a:latin typeface="OCR A Extended" panose="02010509020102010303" pitchFamily="50" charset="0"/>
              </a:rPr>
              <a:t>   *</a:t>
            </a:r>
          </a:p>
          <a:p>
            <a:r>
              <a:rPr lang="pt-BR" altLang="zh-TW" sz="800" dirty="0">
                <a:solidFill>
                  <a:srgbClr val="FF66FF"/>
                </a:solidFill>
                <a:latin typeface="OCR A Extended" panose="02010509020102010303" pitchFamily="50" charset="0"/>
              </a:rPr>
              <a:t>  **</a:t>
            </a:r>
          </a:p>
          <a:p>
            <a:r>
              <a:rPr lang="pt-BR" altLang="zh-TW" sz="800" dirty="0">
                <a:solidFill>
                  <a:srgbClr val="FF66FF"/>
                </a:solidFill>
                <a:latin typeface="OCR A Extended" panose="02010509020102010303" pitchFamily="50" charset="0"/>
              </a:rPr>
              <a:t> ***</a:t>
            </a:r>
          </a:p>
          <a:p>
            <a:r>
              <a:rPr lang="pt-BR" altLang="zh-TW" sz="800" dirty="0">
                <a:solidFill>
                  <a:srgbClr val="FF66FF"/>
                </a:solidFill>
                <a:latin typeface="OCR A Extended" panose="02010509020102010303" pitchFamily="50" charset="0"/>
              </a:rPr>
              <a:t>****</a:t>
            </a:r>
          </a:p>
          <a:p>
            <a:r>
              <a:rPr lang="pt-BR" altLang="zh-TW" sz="800" dirty="0">
                <a:solidFill>
                  <a:srgbClr val="00B050"/>
                </a:solidFill>
                <a:latin typeface="OCR A Extended" panose="02010509020102010303" pitchFamily="50" charset="0"/>
              </a:rPr>
              <a:t>*****</a:t>
            </a:r>
          </a:p>
          <a:p>
            <a:r>
              <a:rPr lang="pt-BR" altLang="zh-TW" sz="800" dirty="0">
                <a:solidFill>
                  <a:srgbClr val="00B050"/>
                </a:solidFill>
                <a:latin typeface="OCR A Extended" panose="02010509020102010303" pitchFamily="50" charset="0"/>
              </a:rPr>
              <a:t> ****</a:t>
            </a:r>
          </a:p>
          <a:p>
            <a:r>
              <a:rPr lang="pt-BR" altLang="zh-TW" sz="800" dirty="0">
                <a:solidFill>
                  <a:srgbClr val="00B050"/>
                </a:solidFill>
                <a:latin typeface="OCR A Extended" panose="02010509020102010303" pitchFamily="50" charset="0"/>
              </a:rPr>
              <a:t>  ***</a:t>
            </a:r>
          </a:p>
          <a:p>
            <a:r>
              <a:rPr lang="pt-BR" altLang="zh-TW" sz="800" dirty="0">
                <a:solidFill>
                  <a:srgbClr val="00B050"/>
                </a:solidFill>
                <a:latin typeface="OCR A Extended" panose="02010509020102010303" pitchFamily="50" charset="0"/>
              </a:rPr>
              <a:t>   **</a:t>
            </a:r>
          </a:p>
          <a:p>
            <a:r>
              <a:rPr lang="pt-BR" altLang="zh-TW" sz="800" dirty="0">
                <a:solidFill>
                  <a:srgbClr val="00B050"/>
                </a:solidFill>
                <a:latin typeface="OCR A Extended" panose="02010509020102010303" pitchFamily="50" charset="0"/>
              </a:rPr>
              <a:t>    *</a:t>
            </a:r>
          </a:p>
          <a:p>
            <a:r>
              <a:rPr lang="pt-BR" altLang="zh-TW" sz="800" dirty="0">
                <a:solidFill>
                  <a:srgbClr val="FFFF00"/>
                </a:solidFill>
                <a:latin typeface="OCR A Extended" panose="02010509020102010303" pitchFamily="50" charset="0"/>
              </a:rPr>
              <a:t>*</a:t>
            </a:r>
          </a:p>
          <a:p>
            <a:endParaRPr lang="pt-BR" altLang="zh-TW" sz="800" dirty="0">
              <a:solidFill>
                <a:schemeClr val="bg1"/>
              </a:solidFill>
              <a:latin typeface="OCR A Extended" panose="02010509020102010303" pitchFamily="50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C4B2180-706C-CA4C-9702-2AF617F2C561}"/>
              </a:ext>
            </a:extLst>
          </p:cNvPr>
          <p:cNvSpPr txBox="1"/>
          <p:nvPr/>
        </p:nvSpPr>
        <p:spPr>
          <a:xfrm>
            <a:off x="5834703" y="1436579"/>
            <a:ext cx="32330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執行結果參考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68B50B0-9A37-9B9E-E104-24EB92C2AD37}"/>
              </a:ext>
            </a:extLst>
          </p:cNvPr>
          <p:cNvSpPr txBox="1"/>
          <p:nvPr/>
        </p:nvSpPr>
        <p:spPr>
          <a:xfrm>
            <a:off x="2438400" y="1428750"/>
            <a:ext cx="32330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C66BC6A-F9F0-C388-0D07-DC383DCD6321}"/>
              </a:ext>
            </a:extLst>
          </p:cNvPr>
          <p:cNvSpPr txBox="1"/>
          <p:nvPr/>
        </p:nvSpPr>
        <p:spPr>
          <a:xfrm>
            <a:off x="76200" y="3945720"/>
            <a:ext cx="3153853" cy="941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本題範例提供顏色標示供方便對照。</a:t>
            </a:r>
            <a:endParaRPr lang="en-US" altLang="zh-TW" sz="12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提醒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：請印「半形星號」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!!</a:t>
            </a: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提醒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：對齊請用「半形空白」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!!</a:t>
            </a: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提醒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：菱形對齊用「一個空白」穿插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!!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74AE7B24-140C-AF85-7694-EBEA7E628ABB}"/>
              </a:ext>
            </a:extLst>
          </p:cNvPr>
          <p:cNvSpPr txBox="1"/>
          <p:nvPr/>
        </p:nvSpPr>
        <p:spPr>
          <a:xfrm>
            <a:off x="4307114" y="4703117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每行開始</a:t>
            </a:r>
            <a:endParaRPr lang="en-US" altLang="zh-TW" sz="1200" dirty="0">
              <a:solidFill>
                <a:schemeClr val="accent3">
                  <a:lumMod val="50000"/>
                  <a:lumOff val="50000"/>
                </a:schemeClr>
              </a:solidFill>
            </a:endParaRPr>
          </a:p>
          <a:p>
            <a:r>
              <a:rPr lang="zh-TW" altLang="en-US" sz="1200" dirty="0">
                <a:solidFill>
                  <a:schemeClr val="accent3">
                    <a:lumMod val="50000"/>
                    <a:lumOff val="50000"/>
                  </a:schemeClr>
                </a:solidFill>
              </a:rPr>
              <a:t>沒有任何空白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371C21-1FEB-FB02-D72B-B5F4131AF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223" y="1817990"/>
            <a:ext cx="1001577" cy="3286781"/>
          </a:xfrm>
          <a:prstGeom prst="rect">
            <a:avLst/>
          </a:prstGeom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508BA270-E387-C0B0-E7AD-8254B4F37E4C}"/>
              </a:ext>
            </a:extLst>
          </p:cNvPr>
          <p:cNvCxnSpPr>
            <a:cxnSpLocks/>
          </p:cNvCxnSpPr>
          <p:nvPr/>
        </p:nvCxnSpPr>
        <p:spPr>
          <a:xfrm>
            <a:off x="3124200" y="1885950"/>
            <a:ext cx="0" cy="3155950"/>
          </a:xfrm>
          <a:prstGeom prst="line">
            <a:avLst/>
          </a:prstGeom>
          <a:ln>
            <a:solidFill>
              <a:schemeClr val="accent3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3FDC9DD3-03E0-9C4D-A69A-5FD7FF639A50}"/>
              </a:ext>
            </a:extLst>
          </p:cNvPr>
          <p:cNvCxnSpPr/>
          <p:nvPr/>
        </p:nvCxnSpPr>
        <p:spPr>
          <a:xfrm>
            <a:off x="3124200" y="5041900"/>
            <a:ext cx="1219200" cy="0"/>
          </a:xfrm>
          <a:prstGeom prst="straightConnector1">
            <a:avLst/>
          </a:prstGeom>
          <a:ln>
            <a:solidFill>
              <a:schemeClr val="accent3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346D560E-229F-94A4-662A-78D46B67BD3E}"/>
              </a:ext>
            </a:extLst>
          </p:cNvPr>
          <p:cNvCxnSpPr>
            <a:cxnSpLocks/>
          </p:cNvCxnSpPr>
          <p:nvPr/>
        </p:nvCxnSpPr>
        <p:spPr>
          <a:xfrm>
            <a:off x="3810000" y="1885950"/>
            <a:ext cx="0" cy="2362200"/>
          </a:xfrm>
          <a:prstGeom prst="line">
            <a:avLst/>
          </a:prstGeom>
          <a:ln>
            <a:solidFill>
              <a:srgbClr val="FF9D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4C86038C-CD6A-1F75-0937-19FCA6E2A76E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3810000" y="4245917"/>
            <a:ext cx="457200" cy="1"/>
          </a:xfrm>
          <a:prstGeom prst="straightConnector1">
            <a:avLst/>
          </a:prstGeom>
          <a:ln>
            <a:solidFill>
              <a:srgbClr val="FF9D3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889F5F59-81B0-1ED0-204B-9BDCE433DDB2}"/>
              </a:ext>
            </a:extLst>
          </p:cNvPr>
          <p:cNvSpPr txBox="1"/>
          <p:nvPr/>
        </p:nvSpPr>
        <p:spPr>
          <a:xfrm>
            <a:off x="4267200" y="4015085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FF9D3B"/>
                </a:solidFill>
              </a:rPr>
              <a:t>本題「尾巴」不限制空白數量</a:t>
            </a:r>
            <a:endParaRPr lang="en-US" altLang="zh-TW" sz="1200" dirty="0">
              <a:solidFill>
                <a:srgbClr val="FF9D3B"/>
              </a:solidFill>
            </a:endParaRPr>
          </a:p>
          <a:p>
            <a:r>
              <a:rPr lang="zh-TW" altLang="en-US" sz="1200" dirty="0">
                <a:solidFill>
                  <a:srgbClr val="FF9D3B"/>
                </a:solidFill>
              </a:rPr>
              <a:t>視覺效果相同即可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A1EF01C-B452-474C-0891-941D377F36E7}"/>
              </a:ext>
            </a:extLst>
          </p:cNvPr>
          <p:cNvSpPr/>
          <p:nvPr/>
        </p:nvSpPr>
        <p:spPr>
          <a:xfrm>
            <a:off x="3207193" y="2343150"/>
            <a:ext cx="45719" cy="136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81F675D-3002-9B63-7C4A-045374E021AE}"/>
              </a:ext>
            </a:extLst>
          </p:cNvPr>
          <p:cNvSpPr/>
          <p:nvPr/>
        </p:nvSpPr>
        <p:spPr>
          <a:xfrm>
            <a:off x="3142837" y="2207078"/>
            <a:ext cx="45719" cy="136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6A2AA9F2-F523-803C-FC51-0EEDD138618B}"/>
              </a:ext>
            </a:extLst>
          </p:cNvPr>
          <p:cNvSpPr txBox="1"/>
          <p:nvPr/>
        </p:nvSpPr>
        <p:spPr>
          <a:xfrm>
            <a:off x="4191000" y="2218551"/>
            <a:ext cx="228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>
                <a:solidFill>
                  <a:srgbClr val="FF0000"/>
                </a:solidFill>
              </a:rPr>
              <a:t>對齊請用「一個半形空白」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E97F676-259C-D088-7EE3-6C387BFA15BD}"/>
              </a:ext>
            </a:extLst>
          </p:cNvPr>
          <p:cNvSpPr/>
          <p:nvPr/>
        </p:nvSpPr>
        <p:spPr>
          <a:xfrm>
            <a:off x="3141253" y="4181929"/>
            <a:ext cx="45719" cy="136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單箭頭接點 40">
            <a:extLst>
              <a:ext uri="{FF2B5EF4-FFF2-40B4-BE49-F238E27FC236}">
                <a16:creationId xmlns:a16="http://schemas.microsoft.com/office/drawing/2014/main" id="{FFDE9872-D2B3-8755-54E5-E9482DCE06CD}"/>
              </a:ext>
            </a:extLst>
          </p:cNvPr>
          <p:cNvCxnSpPr>
            <a:cxnSpLocks/>
            <a:stCxn id="38" idx="1"/>
          </p:cNvCxnSpPr>
          <p:nvPr/>
        </p:nvCxnSpPr>
        <p:spPr>
          <a:xfrm flipH="1" flipV="1">
            <a:off x="3899824" y="2355199"/>
            <a:ext cx="291176" cy="18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899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4127D0-F322-44FB-A921-16645238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12</a:t>
            </a:fld>
            <a:endParaRPr lang="zh-CN" altLang="en-US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9ACEF983-736A-4102-A148-581B9F4F3270}"/>
              </a:ext>
            </a:extLst>
          </p:cNvPr>
          <p:cNvSpPr txBox="1">
            <a:spLocks/>
          </p:cNvSpPr>
          <p:nvPr/>
        </p:nvSpPr>
        <p:spPr>
          <a:xfrm>
            <a:off x="304800" y="971903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更多測資範例如下：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00056C66-038D-2054-7B59-F0C77E42E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469" y="1962150"/>
            <a:ext cx="6899061" cy="28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670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4127D0-F322-44FB-A921-16645238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13</a:t>
            </a:fld>
            <a:endParaRPr lang="zh-CN" altLang="en-US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9ACEF983-736A-4102-A148-581B9F4F3270}"/>
              </a:ext>
            </a:extLst>
          </p:cNvPr>
          <p:cNvSpPr txBox="1">
            <a:spLocks/>
          </p:cNvSpPr>
          <p:nvPr/>
        </p:nvSpPr>
        <p:spPr>
          <a:xfrm>
            <a:off x="304800" y="971903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更多測資範例如下：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986A80D-977E-6DFA-64FB-B941368FF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1770924"/>
            <a:ext cx="7086600" cy="313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165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0063" y="-17909"/>
            <a:ext cx="3011049" cy="4589909"/>
            <a:chOff x="-10063" y="-17909"/>
            <a:chExt cx="3011049" cy="4589909"/>
          </a:xfrm>
        </p:grpSpPr>
        <p:sp>
          <p:nvSpPr>
            <p:cNvPr id="35" name="任意多边形 34"/>
            <p:cNvSpPr/>
            <p:nvPr/>
          </p:nvSpPr>
          <p:spPr bwMode="auto">
            <a:xfrm flipH="1">
              <a:off x="0" y="-17909"/>
              <a:ext cx="3000986" cy="4589909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 bwMode="auto">
            <a:xfrm flipH="1">
              <a:off x="-10063" y="-8284"/>
              <a:ext cx="2736909" cy="4576541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3" name="任意多边形 22"/>
          <p:cNvSpPr/>
          <p:nvPr/>
        </p:nvSpPr>
        <p:spPr bwMode="auto">
          <a:xfrm flipH="1">
            <a:off x="-17382" y="2364423"/>
            <a:ext cx="1814585" cy="2568862"/>
          </a:xfrm>
          <a:custGeom>
            <a:avLst/>
            <a:gdLst>
              <a:gd name="connsiteX0" fmla="*/ 1252208 w 1252208"/>
              <a:gd name="connsiteY0" fmla="*/ 0 h 1683045"/>
              <a:gd name="connsiteX1" fmla="*/ 1252208 w 1252208"/>
              <a:gd name="connsiteY1" fmla="*/ 1158717 h 1683045"/>
              <a:gd name="connsiteX2" fmla="*/ 655199 w 1252208"/>
              <a:gd name="connsiteY2" fmla="*/ 1683045 h 1683045"/>
              <a:gd name="connsiteX3" fmla="*/ 0 w 1252208"/>
              <a:gd name="connsiteY3" fmla="*/ 1106757 h 168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2208" h="1683045">
                <a:moveTo>
                  <a:pt x="1252208" y="0"/>
                </a:moveTo>
                <a:lnTo>
                  <a:pt x="1252208" y="1158717"/>
                </a:lnTo>
                <a:lnTo>
                  <a:pt x="655199" y="1683045"/>
                </a:lnTo>
                <a:lnTo>
                  <a:pt x="0" y="11067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304800" y="1123950"/>
            <a:ext cx="1774584" cy="769441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0</a:t>
            </a:r>
            <a:r>
              <a:rPr lang="en-US" altLang="zh-TW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4</a:t>
            </a:r>
            <a:endParaRPr lang="zh-CN" altLang="en-US" sz="4400" b="1" dirty="0">
              <a:solidFill>
                <a:schemeClr val="accent2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2" name="TextBox 48"/>
          <p:cNvSpPr txBox="1"/>
          <p:nvPr/>
        </p:nvSpPr>
        <p:spPr>
          <a:xfrm>
            <a:off x="2815722" y="2052663"/>
            <a:ext cx="569962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考題說明</a:t>
            </a:r>
            <a:r>
              <a:rPr lang="en-US" altLang="zh-TW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-4</a:t>
            </a:r>
          </a:p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自動販賣機</a:t>
            </a:r>
            <a:endParaRPr lang="zh-CN" altLang="en-US" sz="4800" dirty="0">
              <a:solidFill>
                <a:schemeClr val="accent1">
                  <a:lumMod val="75000"/>
                  <a:lumOff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B4BC34-459D-4968-A6CE-2A9CEFE8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463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4127D0-F322-44FB-A921-16645238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9ACEF983-736A-4102-A148-581B9F4F3270}"/>
              </a:ext>
            </a:extLst>
          </p:cNvPr>
          <p:cNvSpPr txBox="1">
            <a:spLocks/>
          </p:cNvSpPr>
          <p:nvPr/>
        </p:nvSpPr>
        <p:spPr>
          <a:xfrm>
            <a:off x="304800" y="7429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請設計自動販賣機程式，此程式會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不斷要求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使用者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投入「四種硬幣數量」與選擇「飲料」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，販賣機內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有五種飲料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，請依照使用者需求，賣出飲料與找回硬幣，直到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輸入的「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元硬幣」為 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-1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則程式結束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五種飲料售價如下：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輸入飲料種類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~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，不需防呆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	1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15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    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23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    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25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    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4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37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    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投入與找零的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硬幣順序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輸入輸出對應硬幣數量，販賣機有無限硬幣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	50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  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  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  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找零規則請參考下一頁。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667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4127D0-F322-44FB-A921-16645238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9ACEF983-736A-4102-A148-581B9F4F3270}"/>
              </a:ext>
            </a:extLst>
          </p:cNvPr>
          <p:cNvSpPr txBox="1">
            <a:spLocks/>
          </p:cNvSpPr>
          <p:nvPr/>
        </p:nvSpPr>
        <p:spPr>
          <a:xfrm>
            <a:off x="304800" y="7429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1.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若投入總金額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足夠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購買指定飲料，則回傳格式：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get: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飲料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,change:50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    找回硬幣直接用找零金額、從幣值大到小轉換，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    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找零不用考慮原本投入的數量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例：投入</a:t>
            </a:r>
            <a:r>
              <a:rPr lang="en-US" altLang="zh-TW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</a:t>
            </a:r>
            <a:r>
              <a:rPr lang="zh-TW" altLang="en-US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個</a:t>
            </a:r>
            <a:r>
              <a:rPr lang="en-US" altLang="zh-TW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元買</a:t>
            </a:r>
            <a:r>
              <a:rPr lang="en-US" altLang="zh-TW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15</a:t>
            </a:r>
            <a:r>
              <a:rPr lang="zh-TW" altLang="en-US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元飲料，直接找零</a:t>
            </a:r>
            <a:r>
              <a:rPr lang="en-US" altLang="zh-TW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個</a:t>
            </a:r>
            <a:r>
              <a:rPr lang="en-US" altLang="zh-TW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zh-TW" altLang="en-US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2.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若投入總金額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不夠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買指定飲料，則回傳格式：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get:NA,change:50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</a:t>
            </a:r>
            <a:endParaRPr lang="en-US" altLang="zh-TW" sz="20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    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硬幣數量直接退回不需轉換，</a:t>
            </a:r>
            <a:r>
              <a:rPr lang="zh-TW" altLang="en-US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例：投入</a:t>
            </a:r>
            <a:r>
              <a:rPr lang="en-US" altLang="zh-TW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</a:t>
            </a:r>
            <a:r>
              <a:rPr lang="zh-TW" altLang="en-US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個</a:t>
            </a:r>
            <a:r>
              <a:rPr lang="en-US" altLang="zh-TW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元買</a:t>
            </a:r>
            <a:r>
              <a:rPr lang="en-US" altLang="zh-TW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</a:t>
            </a:r>
            <a:r>
              <a:rPr lang="zh-TW" altLang="en-US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元飲料，直接退回</a:t>
            </a:r>
            <a:r>
              <a:rPr lang="en-US" altLang="zh-TW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</a:t>
            </a:r>
            <a:r>
              <a:rPr lang="zh-TW" altLang="en-US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個</a:t>
            </a:r>
            <a:r>
              <a:rPr lang="en-US" altLang="zh-TW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輸入輸出範例請參考下一頁。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865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4127D0-F322-44FB-A921-16645238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17</a:t>
            </a:fld>
            <a:endParaRPr lang="zh-CN" altLang="en-US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9ACEF983-736A-4102-A148-581B9F4F3270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5033D5B-10F6-826E-B989-86909E97D273}"/>
              </a:ext>
            </a:extLst>
          </p:cNvPr>
          <p:cNvSpPr txBox="1"/>
          <p:nvPr/>
        </p:nvSpPr>
        <p:spPr>
          <a:xfrm>
            <a:off x="914399" y="1885950"/>
            <a:ext cx="1422503" cy="230832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0 0 0 20 1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0 2 1 0 2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1 0 0 0 3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0 3 1 2 4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1 0 0 10 5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0 0 0 20 5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0 3 2 0 5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-1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FC26106-8ED3-9A47-6A74-8585D8DAB0C4}"/>
              </a:ext>
            </a:extLst>
          </p:cNvPr>
          <p:cNvSpPr txBox="1"/>
          <p:nvPr/>
        </p:nvSpPr>
        <p:spPr>
          <a:xfrm>
            <a:off x="3048000" y="1885950"/>
            <a:ext cx="2971801" cy="230832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get:1,change:0 0 1 0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get:2,change:0 0 0 2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get:3,change:0 2 1 0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get:4,change:0 0 0 0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get:5,change:0 1 0 0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get:NA,change:0 0 0 20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get:NA,change:0 3 2 0</a:t>
            </a:r>
          </a:p>
          <a:p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C4B2180-706C-CA4C-9702-2AF617F2C561}"/>
              </a:ext>
            </a:extLst>
          </p:cNvPr>
          <p:cNvSpPr txBox="1"/>
          <p:nvPr/>
        </p:nvSpPr>
        <p:spPr>
          <a:xfrm>
            <a:off x="5987103" y="1436579"/>
            <a:ext cx="27758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執行結果參考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68B50B0-9A37-9B9E-E104-24EB92C2AD37}"/>
              </a:ext>
            </a:extLst>
          </p:cNvPr>
          <p:cNvSpPr txBox="1"/>
          <p:nvPr/>
        </p:nvSpPr>
        <p:spPr>
          <a:xfrm>
            <a:off x="2438400" y="1428750"/>
            <a:ext cx="32330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C66BC6A-F9F0-C388-0D07-DC383DCD6321}"/>
              </a:ext>
            </a:extLst>
          </p:cNvPr>
          <p:cNvSpPr txBox="1"/>
          <p:nvPr/>
        </p:nvSpPr>
        <p:spPr>
          <a:xfrm>
            <a:off x="2927632" y="4192305"/>
            <a:ext cx="3153853" cy="941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輸出格式： </a:t>
            </a:r>
            <a:r>
              <a:rPr lang="en-US" altLang="zh-TW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詳參考上一頁</a:t>
            </a:r>
            <a:r>
              <a:rPr lang="en-US" altLang="zh-TW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en-US" altLang="zh-TW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get:</a:t>
            </a:r>
            <a:r>
              <a:rPr lang="zh-TW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飲料</a:t>
            </a:r>
            <a:r>
              <a:rPr lang="en-US" altLang="zh-TW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,change:</a:t>
            </a:r>
            <a:r>
              <a:rPr lang="zh-TW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找回硬幣</a:t>
            </a:r>
            <a:endParaRPr lang="en-US" altLang="zh-TW" sz="1200" b="1" dirty="0">
              <a:solidFill>
                <a:srgbClr val="FF0000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endParaRPr lang="en-US" altLang="zh-TW" sz="1200" b="1" dirty="0">
              <a:solidFill>
                <a:srgbClr val="FF0000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提醒：所有字元請用「半形」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!!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BB3E26C-02E9-4A2C-F6DA-EC7CDB8FF4E3}"/>
              </a:ext>
            </a:extLst>
          </p:cNvPr>
          <p:cNvSpPr txBox="1"/>
          <p:nvPr/>
        </p:nvSpPr>
        <p:spPr>
          <a:xfrm>
            <a:off x="777593" y="4192305"/>
            <a:ext cx="2135625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輸入格式：</a:t>
            </a:r>
            <a:endParaRPr lang="en-US" altLang="zh-TW" sz="1200" b="1" dirty="0">
              <a:solidFill>
                <a:srgbClr val="FF0000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en-US" altLang="zh-TW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</a:t>
            </a:r>
            <a:r>
              <a:rPr lang="zh-TW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</a:t>
            </a:r>
            <a:r>
              <a:rPr lang="en-US" altLang="zh-TW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zh-TW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</a:t>
            </a:r>
            <a:r>
              <a:rPr lang="en-US" altLang="zh-TW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zh-TW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</a:t>
            </a:r>
            <a:r>
              <a:rPr lang="en-US" altLang="zh-TW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元 飲料</a:t>
            </a:r>
            <a:endParaRPr lang="en-US" altLang="zh-TW" sz="1200" b="1" dirty="0">
              <a:solidFill>
                <a:srgbClr val="FF0000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BC97FF0-BBC5-68F2-93E3-5FC1B605ED5A}"/>
              </a:ext>
            </a:extLst>
          </p:cNvPr>
          <p:cNvSpPr txBox="1"/>
          <p:nvPr/>
        </p:nvSpPr>
        <p:spPr>
          <a:xfrm>
            <a:off x="457200" y="1685151"/>
            <a:ext cx="2135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幣值 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</a:t>
            </a: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64F5AB5-B666-DBEB-A7A9-C84864F806DC}"/>
              </a:ext>
            </a:extLst>
          </p:cNvPr>
          <p:cNvSpPr txBox="1"/>
          <p:nvPr/>
        </p:nvSpPr>
        <p:spPr>
          <a:xfrm>
            <a:off x="3838494" y="1685151"/>
            <a:ext cx="21356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幣值 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50</a:t>
            </a: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0873B07-9744-E116-2C93-997CDFE26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4856" y="1811150"/>
            <a:ext cx="1791875" cy="295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6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4127D0-F322-44FB-A921-16645238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9ACEF983-736A-4102-A148-581B9F4F3270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更多測資範例如下：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3FDFEAC-75A4-FFB1-05CB-3B0E4CEA8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236" y="1885950"/>
            <a:ext cx="7418055" cy="117102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F61CF71-AD61-640B-63AB-B4373D3B0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236" y="3611353"/>
            <a:ext cx="7372986" cy="109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6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4127D0-F322-44FB-A921-16645238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9ACEF983-736A-4102-A148-581B9F4F3270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更多測資範例如下：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280FEE6-ABDA-EAF3-35B9-BECA59347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43150"/>
            <a:ext cx="7772400" cy="1109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196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0063" y="-17909"/>
            <a:ext cx="3011049" cy="4589909"/>
            <a:chOff x="-10063" y="-17909"/>
            <a:chExt cx="3011049" cy="4589909"/>
          </a:xfrm>
        </p:grpSpPr>
        <p:sp>
          <p:nvSpPr>
            <p:cNvPr id="35" name="任意多边形 34"/>
            <p:cNvSpPr/>
            <p:nvPr/>
          </p:nvSpPr>
          <p:spPr bwMode="auto">
            <a:xfrm flipH="1">
              <a:off x="0" y="-17909"/>
              <a:ext cx="3000986" cy="4589909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 bwMode="auto">
            <a:xfrm flipH="1">
              <a:off x="-10063" y="-8284"/>
              <a:ext cx="2736909" cy="4576541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3" name="任意多边形 22"/>
          <p:cNvSpPr/>
          <p:nvPr/>
        </p:nvSpPr>
        <p:spPr bwMode="auto">
          <a:xfrm flipH="1">
            <a:off x="-17382" y="2364423"/>
            <a:ext cx="1814585" cy="2568862"/>
          </a:xfrm>
          <a:custGeom>
            <a:avLst/>
            <a:gdLst>
              <a:gd name="connsiteX0" fmla="*/ 1252208 w 1252208"/>
              <a:gd name="connsiteY0" fmla="*/ 0 h 1683045"/>
              <a:gd name="connsiteX1" fmla="*/ 1252208 w 1252208"/>
              <a:gd name="connsiteY1" fmla="*/ 1158717 h 1683045"/>
              <a:gd name="connsiteX2" fmla="*/ 655199 w 1252208"/>
              <a:gd name="connsiteY2" fmla="*/ 1683045 h 1683045"/>
              <a:gd name="connsiteX3" fmla="*/ 0 w 1252208"/>
              <a:gd name="connsiteY3" fmla="*/ 1106757 h 168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2208" h="1683045">
                <a:moveTo>
                  <a:pt x="1252208" y="0"/>
                </a:moveTo>
                <a:lnTo>
                  <a:pt x="1252208" y="1158717"/>
                </a:lnTo>
                <a:lnTo>
                  <a:pt x="655199" y="1683045"/>
                </a:lnTo>
                <a:lnTo>
                  <a:pt x="0" y="11067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304800" y="1123950"/>
            <a:ext cx="1774584" cy="769441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0</a:t>
            </a:r>
            <a:r>
              <a:rPr lang="en-US" altLang="zh-TW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5</a:t>
            </a:r>
            <a:endParaRPr lang="zh-CN" altLang="en-US" sz="4400" b="1" dirty="0">
              <a:solidFill>
                <a:schemeClr val="accent2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2" name="TextBox 48"/>
          <p:cNvSpPr txBox="1"/>
          <p:nvPr/>
        </p:nvSpPr>
        <p:spPr>
          <a:xfrm>
            <a:off x="2815722" y="2052663"/>
            <a:ext cx="5699628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考題說明</a:t>
            </a:r>
            <a:r>
              <a:rPr lang="en-US" altLang="zh-TW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-5</a:t>
            </a:r>
          </a:p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最大公因數</a:t>
            </a:r>
            <a:r>
              <a:rPr lang="en-US" altLang="zh-TW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&amp;</a:t>
            </a:r>
          </a:p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最小公倍數</a:t>
            </a:r>
            <a:endParaRPr lang="zh-CN" altLang="en-US" sz="4800" dirty="0">
              <a:solidFill>
                <a:schemeClr val="accent1">
                  <a:lumMod val="75000"/>
                  <a:lumOff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B4BC34-459D-4968-A6CE-2A9CEFE8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707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91A96C6-7CA3-438A-A39B-542CB6219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441705-D573-4D30-A07E-CAC17EFA88A7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請設計一程式，此程式會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不斷要求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使用者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輸入「模式」與「兩個正整數」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，請依照模式，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印出兩數的最大公因數或最小公倍數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，直到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輸入的「模式」為 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-1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則程式結束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 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輸入模式僅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-1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，不須做防呆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輸入模式為 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：印出最大公因數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輸入模式為 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：印出最小公倍數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輸入輸出範例請參考下一頁。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</a:t>
            </a:r>
            <a:endParaRPr lang="en-US" altLang="zh-TW" sz="20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1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BE1F42D-8767-4578-8878-E998F77B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52C96B-8438-47D7-B3A7-1E9280FDCAA1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DB00C91-6CCA-44A9-B5F6-CBD1309EAD1F}"/>
              </a:ext>
            </a:extLst>
          </p:cNvPr>
          <p:cNvSpPr txBox="1"/>
          <p:nvPr/>
        </p:nvSpPr>
        <p:spPr>
          <a:xfrm>
            <a:off x="914400" y="1817990"/>
            <a:ext cx="1296000" cy="258532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1 12 18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2 12 18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1 15 20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2 15 20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1 128 320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2 128 320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1 221 299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2 221 299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-1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1BB6D27-5481-48F2-A84B-14B77166FC43}"/>
              </a:ext>
            </a:extLst>
          </p:cNvPr>
          <p:cNvSpPr txBox="1"/>
          <p:nvPr/>
        </p:nvSpPr>
        <p:spPr>
          <a:xfrm>
            <a:off x="3047999" y="1809750"/>
            <a:ext cx="1295401" cy="258532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6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36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5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60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64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640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13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5083</a:t>
            </a:r>
          </a:p>
          <a:p>
            <a:endParaRPr lang="en-US" altLang="zh-TW" dirty="0">
              <a:solidFill>
                <a:schemeClr val="bg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0FF0FBE-4D7F-46D1-A87D-8745661731F8}"/>
              </a:ext>
            </a:extLst>
          </p:cNvPr>
          <p:cNvSpPr txBox="1"/>
          <p:nvPr/>
        </p:nvSpPr>
        <p:spPr>
          <a:xfrm>
            <a:off x="5029200" y="1436579"/>
            <a:ext cx="27758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執行結果參考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9395444-28CB-4E0C-8B9E-67B3F117DC3B}"/>
              </a:ext>
            </a:extLst>
          </p:cNvPr>
          <p:cNvSpPr txBox="1"/>
          <p:nvPr/>
        </p:nvSpPr>
        <p:spPr>
          <a:xfrm>
            <a:off x="2438400" y="1428750"/>
            <a:ext cx="32330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0B2AEF6-5578-40B1-9B59-51AE99DD4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170" y="1809750"/>
            <a:ext cx="1554954" cy="287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305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BE1F42D-8767-4578-8878-E998F77B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52C96B-8438-47D7-B3A7-1E9280FDCAA1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更多測資範例如下：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E70A885-66D2-3EE7-BB58-9F20FC368F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4189"/>
          <a:stretch/>
        </p:blipFill>
        <p:spPr>
          <a:xfrm>
            <a:off x="1752600" y="2114550"/>
            <a:ext cx="691261" cy="348352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29091789-E553-770E-D030-FA2BC44D1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2092778"/>
            <a:ext cx="740248" cy="370124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47D41B06-2CB3-66BF-8595-E79E5C398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2647950"/>
            <a:ext cx="691261" cy="381010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65F400D7-0329-8AC8-7CF9-7A7F748622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6486" y="2661275"/>
            <a:ext cx="729362" cy="359238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8FB28F4C-E9FC-C14A-5784-B7B8765F8C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8600" y="2098221"/>
            <a:ext cx="789235" cy="381010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3BD927A2-98BA-4F7A-8925-0E375CE117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7257" y="2664034"/>
            <a:ext cx="740248" cy="348352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D40FAFF4-B7BC-1919-E64E-4ADE72EECB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2337" y="2099063"/>
            <a:ext cx="664046" cy="348352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91A5FBCE-15E4-A5E5-8287-DA0674F656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2337" y="2658836"/>
            <a:ext cx="729362" cy="370124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6726CF9F-39CD-5EA5-02E7-7B666CCF85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6348" y="2093620"/>
            <a:ext cx="892652" cy="359238"/>
          </a:xfrm>
          <a:prstGeom prst="rect">
            <a:avLst/>
          </a:prstGeom>
        </p:spPr>
      </p:pic>
      <p:pic>
        <p:nvPicPr>
          <p:cNvPr id="30" name="圖片 29">
            <a:extLst>
              <a:ext uri="{FF2B5EF4-FFF2-40B4-BE49-F238E27FC236}">
                <a16:creationId xmlns:a16="http://schemas.microsoft.com/office/drawing/2014/main" id="{93F2F8F6-E226-32BE-2BEE-72CA7F8722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8162" y="2647705"/>
            <a:ext cx="865437" cy="381010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1F4CF217-0007-4795-B893-F069478C9C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2600" y="3584116"/>
            <a:ext cx="854551" cy="370124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1E8D8D5A-F729-A567-4BA0-F4070AC07B3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52600" y="4106626"/>
            <a:ext cx="881766" cy="370124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78270BE2-0E5F-5613-F113-AF4B3351B8E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95600" y="3584116"/>
            <a:ext cx="800121" cy="359238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7712605F-8C0C-1E19-D902-95BE671D98F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06486" y="4106626"/>
            <a:ext cx="800121" cy="370124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065BF9D6-3D8C-0F2A-158B-5EEC677ACA0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47257" y="3573230"/>
            <a:ext cx="713033" cy="370124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EE8A5578-5FDA-BF57-7753-F095D78D1FA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42519" y="4106626"/>
            <a:ext cx="729362" cy="348352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91289928-48D8-48AB-3513-5CBAF5F557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52337" y="3562350"/>
            <a:ext cx="838222" cy="359238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F9EA137B-7B51-B7D1-5293-19AE34DFF66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52337" y="4101183"/>
            <a:ext cx="865437" cy="359238"/>
          </a:xfrm>
          <a:prstGeom prst="rect">
            <a:avLst/>
          </a:prstGeom>
        </p:spPr>
      </p:pic>
      <p:pic>
        <p:nvPicPr>
          <p:cNvPr id="48" name="圖片 47">
            <a:extLst>
              <a:ext uri="{FF2B5EF4-FFF2-40B4-BE49-F238E27FC236}">
                <a16:creationId xmlns:a16="http://schemas.microsoft.com/office/drawing/2014/main" id="{798AFD92-C48E-6CB9-9FB7-C757E268156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89893" y="3572464"/>
            <a:ext cx="843665" cy="359238"/>
          </a:xfrm>
          <a:prstGeom prst="rect">
            <a:avLst/>
          </a:prstGeom>
        </p:spPr>
      </p:pic>
      <p:pic>
        <p:nvPicPr>
          <p:cNvPr id="50" name="圖片 49">
            <a:extLst>
              <a:ext uri="{FF2B5EF4-FFF2-40B4-BE49-F238E27FC236}">
                <a16:creationId xmlns:a16="http://schemas.microsoft.com/office/drawing/2014/main" id="{54B71D82-D424-4C1C-63D3-1696DFC95935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84449" y="4095740"/>
            <a:ext cx="854551" cy="35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84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0063" y="-17909"/>
            <a:ext cx="3011049" cy="4589909"/>
            <a:chOff x="-10063" y="-17909"/>
            <a:chExt cx="3011049" cy="4589909"/>
          </a:xfrm>
        </p:grpSpPr>
        <p:sp>
          <p:nvSpPr>
            <p:cNvPr id="35" name="任意多边形 34"/>
            <p:cNvSpPr/>
            <p:nvPr/>
          </p:nvSpPr>
          <p:spPr bwMode="auto">
            <a:xfrm flipH="1">
              <a:off x="0" y="-17909"/>
              <a:ext cx="3000986" cy="4589909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 bwMode="auto">
            <a:xfrm flipH="1">
              <a:off x="-10063" y="-8284"/>
              <a:ext cx="2736909" cy="4576541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3" name="任意多边形 22"/>
          <p:cNvSpPr/>
          <p:nvPr/>
        </p:nvSpPr>
        <p:spPr bwMode="auto">
          <a:xfrm flipH="1">
            <a:off x="-17382" y="2364423"/>
            <a:ext cx="1814585" cy="2568862"/>
          </a:xfrm>
          <a:custGeom>
            <a:avLst/>
            <a:gdLst>
              <a:gd name="connsiteX0" fmla="*/ 1252208 w 1252208"/>
              <a:gd name="connsiteY0" fmla="*/ 0 h 1683045"/>
              <a:gd name="connsiteX1" fmla="*/ 1252208 w 1252208"/>
              <a:gd name="connsiteY1" fmla="*/ 1158717 h 1683045"/>
              <a:gd name="connsiteX2" fmla="*/ 655199 w 1252208"/>
              <a:gd name="connsiteY2" fmla="*/ 1683045 h 1683045"/>
              <a:gd name="connsiteX3" fmla="*/ 0 w 1252208"/>
              <a:gd name="connsiteY3" fmla="*/ 1106757 h 168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2208" h="1683045">
                <a:moveTo>
                  <a:pt x="1252208" y="0"/>
                </a:moveTo>
                <a:lnTo>
                  <a:pt x="1252208" y="1158717"/>
                </a:lnTo>
                <a:lnTo>
                  <a:pt x="655199" y="1683045"/>
                </a:lnTo>
                <a:lnTo>
                  <a:pt x="0" y="11067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304800" y="1123950"/>
            <a:ext cx="1774584" cy="769441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0</a:t>
            </a:r>
            <a:r>
              <a:rPr lang="en-US" altLang="zh-TW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6</a:t>
            </a:r>
            <a:endParaRPr lang="zh-CN" altLang="en-US" sz="4400" b="1" dirty="0">
              <a:solidFill>
                <a:schemeClr val="accent2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2" name="TextBox 48"/>
          <p:cNvSpPr txBox="1"/>
          <p:nvPr/>
        </p:nvSpPr>
        <p:spPr>
          <a:xfrm>
            <a:off x="2815722" y="2052663"/>
            <a:ext cx="5794878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考題說明</a:t>
            </a:r>
            <a:r>
              <a:rPr lang="en-US" altLang="zh-TW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-6</a:t>
            </a:r>
          </a:p>
          <a:p>
            <a:pPr algn="ctr"/>
            <a:r>
              <a:rPr lang="en-US" altLang="zh-TW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Division &amp; Subtraction</a:t>
            </a:r>
            <a:endParaRPr lang="zh-CN" altLang="en-US" sz="4800" dirty="0">
              <a:solidFill>
                <a:schemeClr val="accent1">
                  <a:lumMod val="75000"/>
                  <a:lumOff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B4BC34-459D-4968-A6CE-2A9CEFE8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383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4843B7A-EBA6-44DF-9B32-4214CC4E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F48D71-DB5F-4E2D-BAF8-D0F76C386ECF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請設計一程式，此程式會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不斷要求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使用者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輸入「一個正整數」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，請將該數做指定的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Division &amp; Subtraction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動作，直到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 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-1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則程式結束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 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Division &amp; Subtraction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動作請參考下一頁。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</a:t>
            </a:r>
            <a:endParaRPr lang="en-US" altLang="zh-TW" sz="20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19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E7A411C-7FB2-4060-9AE3-D3547950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B21C5C-70F2-4584-B696-60880F9B146B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假設輸入的正整數由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個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0~9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的數字組合成，即 </a:t>
            </a:r>
            <a:r>
              <a:rPr lang="en-US" altLang="zh-TW" sz="2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4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</a:t>
            </a:r>
            <a:r>
              <a:rPr lang="zh-TW" altLang="en-US" sz="14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4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n-1</a:t>
            </a:r>
            <a:r>
              <a:rPr lang="zh-TW" altLang="en-US" sz="14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4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zh-TW" altLang="en-US" sz="14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4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	(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例：輸入正整數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56789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，則 </a:t>
            </a:r>
            <a:r>
              <a:rPr lang="en-US" altLang="zh-TW" sz="2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4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=5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2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4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4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=6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2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4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=7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2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4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=8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2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4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=9)</a:t>
            </a: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Division &amp; Subtraction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780798" lvl="1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en-US" altLang="zh-TW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Step1. Division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：請先將此數的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奇位數數字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及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偶位數數字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分別取出並組合成兩個新數字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與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Q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1330073" lvl="3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當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為偶數時：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= </a:t>
            </a:r>
            <a:r>
              <a:rPr lang="en-US" altLang="zh-TW" sz="16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n-1</a:t>
            </a:r>
            <a:r>
              <a:rPr lang="en-US" altLang="zh-TW" sz="16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…I</a:t>
            </a:r>
            <a:r>
              <a:rPr lang="en-US" altLang="zh-TW" sz="1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  <a:r>
              <a:rPr lang="en-US" altLang="zh-TW" sz="16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Q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= </a:t>
            </a:r>
            <a:r>
              <a:rPr lang="en-US" altLang="zh-TW" sz="16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</a:t>
            </a:r>
            <a:r>
              <a:rPr lang="en-US" altLang="zh-TW" sz="16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…I</a:t>
            </a:r>
            <a:r>
              <a:rPr lang="en-US" altLang="zh-TW" sz="1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4</a:t>
            </a:r>
            <a:r>
              <a:rPr lang="en-US" altLang="zh-TW" sz="16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(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例：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567890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P=680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Q=579)</a:t>
            </a:r>
          </a:p>
          <a:p>
            <a:pPr marL="1330073" lvl="3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當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為奇數時：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= </a:t>
            </a:r>
            <a:r>
              <a:rPr lang="en-US" altLang="zh-TW" sz="16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</a:t>
            </a:r>
            <a:r>
              <a:rPr lang="en-US" altLang="zh-TW" sz="16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…I</a:t>
            </a:r>
            <a:r>
              <a:rPr lang="en-US" altLang="zh-TW" sz="1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  <a:r>
              <a:rPr lang="en-US" altLang="zh-TW" sz="16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Q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= </a:t>
            </a:r>
            <a:r>
              <a:rPr lang="en-US" altLang="zh-TW" sz="16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n-1</a:t>
            </a:r>
            <a:r>
              <a:rPr lang="en-US" altLang="zh-TW" sz="16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…I</a:t>
            </a:r>
            <a:r>
              <a:rPr lang="en-US" altLang="zh-TW" sz="1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4</a:t>
            </a:r>
            <a:r>
              <a:rPr lang="en-US" altLang="zh-TW" sz="16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I</a:t>
            </a:r>
            <a:r>
              <a:rPr lang="en-US" altLang="zh-TW" sz="1000" b="1" i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(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例：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56789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P=579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Q=68)</a:t>
            </a:r>
          </a:p>
          <a:p>
            <a:pPr marL="780798" lvl="1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en-US" altLang="zh-TW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Step2. Subtraction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：接下來計算 </a:t>
            </a:r>
            <a:r>
              <a:rPr lang="en-US" altLang="zh-TW" sz="2000" b="1" dirty="0">
                <a:solidFill>
                  <a:srgbClr val="FF972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</a:t>
            </a:r>
            <a:r>
              <a:rPr lang="zh-TW" altLang="en-US" sz="2000" b="1" dirty="0">
                <a:solidFill>
                  <a:srgbClr val="FF972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rgbClr val="FF972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–</a:t>
            </a:r>
            <a:r>
              <a:rPr lang="zh-TW" altLang="en-US" sz="2000" b="1" dirty="0">
                <a:solidFill>
                  <a:srgbClr val="FF972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rgbClr val="FF972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Q</a:t>
            </a:r>
            <a:r>
              <a:rPr lang="zh-TW" altLang="en-US" sz="2000" b="1" dirty="0">
                <a:solidFill>
                  <a:srgbClr val="FF972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rgbClr val="FF972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=</a:t>
            </a:r>
            <a:r>
              <a:rPr lang="zh-TW" altLang="en-US" sz="2000" b="1" dirty="0">
                <a:solidFill>
                  <a:srgbClr val="FF972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rgbClr val="FF972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2000" b="1" dirty="0">
                <a:solidFill>
                  <a:srgbClr val="FF972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並將該算式印出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323598" lvl="1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若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&gt;=10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，則繼續將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再做一次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Division &amp; Subtraction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323598" lvl="1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	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重複運算</a:t>
            </a:r>
            <a:r>
              <a:rPr lang="zh-TW" altLang="en-US" sz="2000" b="1" dirty="0">
                <a:solidFill>
                  <a:srgbClr val="FF972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直到最後得到的</a:t>
            </a:r>
            <a:r>
              <a:rPr lang="en-US" altLang="zh-TW" sz="2000" b="1" dirty="0">
                <a:solidFill>
                  <a:srgbClr val="FF972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S</a:t>
            </a:r>
            <a:r>
              <a:rPr lang="zh-TW" altLang="en-US" sz="2000" b="1" dirty="0">
                <a:solidFill>
                  <a:srgbClr val="FF972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小於</a:t>
            </a:r>
            <a:r>
              <a:rPr lang="en-US" altLang="zh-TW" sz="2000" b="1" dirty="0">
                <a:solidFill>
                  <a:srgbClr val="FF972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zh-TW" altLang="en-US" sz="2000" b="1" dirty="0">
                <a:solidFill>
                  <a:srgbClr val="FF972A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為止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</a:t>
            </a:r>
            <a:endParaRPr lang="en-US" altLang="zh-TW" sz="20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684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E7A411C-7FB2-4060-9AE3-D3547950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2BC542EA-388E-4222-B22A-402BF2AD1E10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81E2527-306B-4502-B5E9-10FD23325AD7}"/>
              </a:ext>
            </a:extLst>
          </p:cNvPr>
          <p:cNvSpPr txBox="1"/>
          <p:nvPr/>
        </p:nvSpPr>
        <p:spPr>
          <a:xfrm>
            <a:off x="914399" y="1817990"/>
            <a:ext cx="1447799" cy="156966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123456789</a:t>
            </a:r>
          </a:p>
          <a:p>
            <a:r>
              <a:rPr lang="en-US" altLang="zh-TW" sz="1600" dirty="0">
                <a:solidFill>
                  <a:srgbClr val="00C1EE"/>
                </a:solidFill>
              </a:rPr>
              <a:t>2147483647</a:t>
            </a:r>
          </a:p>
          <a:p>
            <a:r>
              <a:rPr lang="en-US" altLang="zh-TW" sz="1600" dirty="0">
                <a:solidFill>
                  <a:srgbClr val="FF972A"/>
                </a:solidFill>
              </a:rPr>
              <a:t>567890</a:t>
            </a:r>
          </a:p>
          <a:p>
            <a:r>
              <a:rPr lang="en-US" altLang="zh-TW" sz="1600" dirty="0">
                <a:solidFill>
                  <a:srgbClr val="FF66FF"/>
                </a:solidFill>
              </a:rPr>
              <a:t>56789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-1</a:t>
            </a:r>
          </a:p>
          <a:p>
            <a:endParaRPr lang="en-US" altLang="zh-TW" sz="1600" dirty="0">
              <a:solidFill>
                <a:schemeClr val="bg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255AC65-5225-4639-AE50-02244EB039EC}"/>
              </a:ext>
            </a:extLst>
          </p:cNvPr>
          <p:cNvSpPr txBox="1"/>
          <p:nvPr/>
        </p:nvSpPr>
        <p:spPr>
          <a:xfrm>
            <a:off x="3047999" y="1809750"/>
            <a:ext cx="2057401" cy="304698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13579-2468=11111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111-11=100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10-0=10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0-1=-1</a:t>
            </a:r>
          </a:p>
          <a:p>
            <a:r>
              <a:rPr lang="en-US" altLang="zh-TW" sz="1600" dirty="0">
                <a:solidFill>
                  <a:srgbClr val="00C1EE"/>
                </a:solidFill>
              </a:rPr>
              <a:t>17867-24434=-6567</a:t>
            </a:r>
          </a:p>
          <a:p>
            <a:r>
              <a:rPr lang="en-US" altLang="zh-TW" sz="1600" dirty="0">
                <a:solidFill>
                  <a:srgbClr val="FF972A"/>
                </a:solidFill>
              </a:rPr>
              <a:t>680-579=101</a:t>
            </a:r>
          </a:p>
          <a:p>
            <a:r>
              <a:rPr lang="en-US" altLang="zh-TW" sz="1600" dirty="0">
                <a:solidFill>
                  <a:srgbClr val="FF972A"/>
                </a:solidFill>
              </a:rPr>
              <a:t>11-0=11</a:t>
            </a:r>
          </a:p>
          <a:p>
            <a:r>
              <a:rPr lang="en-US" altLang="zh-TW" sz="1600" dirty="0">
                <a:solidFill>
                  <a:srgbClr val="FF972A"/>
                </a:solidFill>
              </a:rPr>
              <a:t>1-1=0</a:t>
            </a:r>
          </a:p>
          <a:p>
            <a:r>
              <a:rPr lang="en-US" altLang="zh-TW" sz="1600" dirty="0">
                <a:solidFill>
                  <a:srgbClr val="FF66FF"/>
                </a:solidFill>
              </a:rPr>
              <a:t>579-68=511</a:t>
            </a:r>
          </a:p>
          <a:p>
            <a:r>
              <a:rPr lang="en-US" altLang="zh-TW" sz="1600" dirty="0">
                <a:solidFill>
                  <a:srgbClr val="FF66FF"/>
                </a:solidFill>
              </a:rPr>
              <a:t>51-1=50</a:t>
            </a:r>
          </a:p>
          <a:p>
            <a:r>
              <a:rPr lang="en-US" altLang="zh-TW" sz="1600" dirty="0">
                <a:solidFill>
                  <a:srgbClr val="FF66FF"/>
                </a:solidFill>
              </a:rPr>
              <a:t>0-5=-5</a:t>
            </a:r>
          </a:p>
          <a:p>
            <a:endParaRPr lang="en-US" altLang="zh-TW" sz="1600" dirty="0">
              <a:solidFill>
                <a:schemeClr val="bg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C7BDCB5-F7E0-4A4C-AF46-35F3032C6B8D}"/>
              </a:ext>
            </a:extLst>
          </p:cNvPr>
          <p:cNvSpPr txBox="1"/>
          <p:nvPr/>
        </p:nvSpPr>
        <p:spPr>
          <a:xfrm>
            <a:off x="5029200" y="1436579"/>
            <a:ext cx="27758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執行結果參考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7A96486-F2D8-47D1-9A17-51F129D81D9B}"/>
              </a:ext>
            </a:extLst>
          </p:cNvPr>
          <p:cNvSpPr txBox="1"/>
          <p:nvPr/>
        </p:nvSpPr>
        <p:spPr>
          <a:xfrm>
            <a:off x="2438400" y="1428750"/>
            <a:ext cx="32330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2046130-6FED-45BF-AAA6-4A8F3E4EC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497" y="1844518"/>
            <a:ext cx="2057400" cy="323430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9821C401-2C06-4009-8050-236FA2C45292}"/>
              </a:ext>
            </a:extLst>
          </p:cNvPr>
          <p:cNvSpPr txBox="1"/>
          <p:nvPr/>
        </p:nvSpPr>
        <p:spPr>
          <a:xfrm>
            <a:off x="702151" y="3512260"/>
            <a:ext cx="2285998" cy="72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本題範例提供顏色標示，</a:t>
            </a:r>
            <a:endParaRPr lang="en-US" altLang="zh-TW" sz="12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供方便對照輸入與輸出。</a:t>
            </a:r>
            <a:endParaRPr lang="en-US" altLang="zh-TW" sz="12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提醒：符號請使用半形符號。</a:t>
            </a:r>
            <a:endParaRPr lang="en-US" altLang="zh-TW" sz="12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1168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E7A411C-7FB2-4060-9AE3-D3547950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2BC542EA-388E-4222-B22A-402BF2AD1E10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更多測資範例如下：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4FDC07A-DD77-D610-B277-DCCCC6A96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190750"/>
            <a:ext cx="1387965" cy="58784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E591072F-A74B-5BCA-E309-DBC56EBAE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2190750"/>
            <a:ext cx="1338978" cy="751134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76061F5C-C8DD-EC7F-F41B-77C9657D0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901" y="2196193"/>
            <a:ext cx="1551255" cy="370124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0BA4B08A-3D8B-5D36-FAF0-85638D1D7E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1457" y="3480715"/>
            <a:ext cx="1322649" cy="576958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9CC4DC89-6E16-9F2F-E132-BD4A3ACC07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0" y="3480715"/>
            <a:ext cx="1246447" cy="359238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41043E48-C062-C8C4-F959-536F693175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3542" y="3480715"/>
            <a:ext cx="1349864" cy="386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27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0063" y="-17909"/>
            <a:ext cx="3011049" cy="4589909"/>
            <a:chOff x="-10063" y="-17909"/>
            <a:chExt cx="3011049" cy="4589909"/>
          </a:xfrm>
        </p:grpSpPr>
        <p:sp>
          <p:nvSpPr>
            <p:cNvPr id="35" name="任意多边形 34"/>
            <p:cNvSpPr/>
            <p:nvPr/>
          </p:nvSpPr>
          <p:spPr bwMode="auto">
            <a:xfrm flipH="1">
              <a:off x="0" y="-17909"/>
              <a:ext cx="3000986" cy="4589909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 bwMode="auto">
            <a:xfrm flipH="1">
              <a:off x="-10063" y="-8284"/>
              <a:ext cx="2736909" cy="4576541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3" name="任意多边形 22"/>
          <p:cNvSpPr/>
          <p:nvPr/>
        </p:nvSpPr>
        <p:spPr bwMode="auto">
          <a:xfrm flipH="1">
            <a:off x="-17382" y="2364423"/>
            <a:ext cx="1814585" cy="2568862"/>
          </a:xfrm>
          <a:custGeom>
            <a:avLst/>
            <a:gdLst>
              <a:gd name="connsiteX0" fmla="*/ 1252208 w 1252208"/>
              <a:gd name="connsiteY0" fmla="*/ 0 h 1683045"/>
              <a:gd name="connsiteX1" fmla="*/ 1252208 w 1252208"/>
              <a:gd name="connsiteY1" fmla="*/ 1158717 h 1683045"/>
              <a:gd name="connsiteX2" fmla="*/ 655199 w 1252208"/>
              <a:gd name="connsiteY2" fmla="*/ 1683045 h 1683045"/>
              <a:gd name="connsiteX3" fmla="*/ 0 w 1252208"/>
              <a:gd name="connsiteY3" fmla="*/ 1106757 h 168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2208" h="1683045">
                <a:moveTo>
                  <a:pt x="1252208" y="0"/>
                </a:moveTo>
                <a:lnTo>
                  <a:pt x="1252208" y="1158717"/>
                </a:lnTo>
                <a:lnTo>
                  <a:pt x="655199" y="1683045"/>
                </a:lnTo>
                <a:lnTo>
                  <a:pt x="0" y="11067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304800" y="1123950"/>
            <a:ext cx="1774584" cy="769441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07</a:t>
            </a:r>
            <a:endParaRPr lang="zh-CN" altLang="en-US" sz="4400" b="1" dirty="0">
              <a:solidFill>
                <a:schemeClr val="accent2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2" name="TextBox 48"/>
          <p:cNvSpPr txBox="1"/>
          <p:nvPr/>
        </p:nvSpPr>
        <p:spPr>
          <a:xfrm>
            <a:off x="2815722" y="2052663"/>
            <a:ext cx="569962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考題說明</a:t>
            </a:r>
            <a:r>
              <a:rPr lang="en-US" altLang="zh-TW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-7</a:t>
            </a:r>
          </a:p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擲骰子</a:t>
            </a:r>
            <a:endParaRPr lang="zh-CN" altLang="en-US" sz="4800" dirty="0">
              <a:solidFill>
                <a:schemeClr val="accent1">
                  <a:lumMod val="75000"/>
                  <a:lumOff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B4BC34-459D-4968-A6CE-2A9CEFE8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431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2C994CE-1663-4A64-A393-0142AFEE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2F7F7A-0852-485E-B037-0E6D9DEE8288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請設計一程式，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玩家投擲兩顆骰子。每一顆骰子有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6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個面。這些面分別刻有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4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、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6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個點。當骰子靜止下來後，將兩個骰子朝天的那一面的點數相加起來。如果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第一次投擲便擲出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7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點或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11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點，那麼判定玩家贏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。若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第一次擲出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點、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點或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12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點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這些點數稱為「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crap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」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那麼則是玩家輸 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「莊家」贏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。如果</a:t>
            </a:r>
            <a:r>
              <a:rPr lang="zh-TW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第一次擲出</a:t>
            </a:r>
            <a:r>
              <a:rPr lang="en-US" altLang="zh-TW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4</a:t>
            </a:r>
            <a:r>
              <a:rPr lang="zh-TW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點、</a:t>
            </a:r>
            <a:r>
              <a:rPr lang="en-US" altLang="zh-TW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5</a:t>
            </a:r>
            <a:r>
              <a:rPr lang="zh-TW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點、</a:t>
            </a:r>
            <a:r>
              <a:rPr lang="en-US" altLang="zh-TW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6</a:t>
            </a:r>
            <a:r>
              <a:rPr lang="zh-TW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點、</a:t>
            </a:r>
            <a:r>
              <a:rPr lang="en-US" altLang="zh-TW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8</a:t>
            </a:r>
            <a:r>
              <a:rPr lang="zh-TW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點、</a:t>
            </a:r>
            <a:r>
              <a:rPr lang="en-US" altLang="zh-TW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9</a:t>
            </a:r>
            <a:r>
              <a:rPr lang="zh-TW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點或</a:t>
            </a:r>
            <a:r>
              <a:rPr lang="en-US" altLang="zh-TW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lang="zh-TW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點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，則這個點數成為玩家的「目標點數」。你必須繼續投擲這兩顆骰子，直到「擲出你的目標點數才算贏」。但若</a:t>
            </a:r>
            <a:r>
              <a:rPr lang="zh-TW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玩家在達成目標點數之前擲出了</a:t>
            </a:r>
            <a:r>
              <a:rPr lang="en-US" altLang="zh-TW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7</a:t>
            </a:r>
            <a:r>
              <a:rPr lang="zh-TW" alt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點，則判定玩家輸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</a:t>
            </a:r>
            <a:endParaRPr lang="en-US" altLang="zh-TW" sz="20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238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random/>
      </p:transition>
    </mc:Choice>
    <mc:Fallback>
      <p:transition spd="slow" advTm="3000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BE1F42D-8767-4578-8878-E998F77B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52C96B-8438-47D7-B3A7-1E9280FDCAA1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輸入範例：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無，請使用亂數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輸出範例 與 執行結果參考，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本題沒有固定答案，請自行判斷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B7BB52D-6CC0-AA27-6713-C9CE012EF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905" y="2250019"/>
            <a:ext cx="2188086" cy="59873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95D5769D-7294-A1C5-930D-262377D47BDC}"/>
              </a:ext>
            </a:extLst>
          </p:cNvPr>
          <p:cNvSpPr txBox="1"/>
          <p:nvPr/>
        </p:nvSpPr>
        <p:spPr>
          <a:xfrm>
            <a:off x="1698106" y="2419350"/>
            <a:ext cx="859906" cy="2049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en-US" altLang="zh-TW" sz="12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Case 1</a:t>
            </a: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endParaRPr lang="en-US" altLang="zh-TW" sz="12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endParaRPr lang="en-US" altLang="zh-TW" sz="12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Case 2</a:t>
            </a: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endParaRPr lang="en-US" altLang="zh-TW" sz="12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endParaRPr lang="en-US" altLang="zh-TW" sz="12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endParaRPr lang="en-US" altLang="zh-TW" sz="12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endParaRPr lang="en-US" altLang="zh-TW" sz="12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en-US" altLang="zh-TW" sz="1200" b="1" dirty="0">
                <a:solidFill>
                  <a:srgbClr val="FF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Case 3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4BA3BEC6-F748-9DD1-5005-7A98B329C3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412"/>
          <a:stretch/>
        </p:blipFill>
        <p:spPr>
          <a:xfrm>
            <a:off x="2441906" y="3713471"/>
            <a:ext cx="2188086" cy="1186574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FEC5A783-B694-3A2A-34FF-7570C9665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9906" y="2241854"/>
            <a:ext cx="2492894" cy="615059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807B38C4-7A9E-492E-C51D-203524F2C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1905" y="2952750"/>
            <a:ext cx="2133656" cy="598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396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0063" y="-17909"/>
            <a:ext cx="3011049" cy="4589909"/>
            <a:chOff x="-10063" y="-17909"/>
            <a:chExt cx="3011049" cy="4589909"/>
          </a:xfrm>
        </p:grpSpPr>
        <p:sp>
          <p:nvSpPr>
            <p:cNvPr id="35" name="任意多边形 34"/>
            <p:cNvSpPr/>
            <p:nvPr/>
          </p:nvSpPr>
          <p:spPr bwMode="auto">
            <a:xfrm flipH="1">
              <a:off x="0" y="-17909"/>
              <a:ext cx="3000986" cy="4589909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 bwMode="auto">
            <a:xfrm flipH="1">
              <a:off x="-10063" y="-8284"/>
              <a:ext cx="2736909" cy="4576541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3" name="任意多边形 22"/>
          <p:cNvSpPr/>
          <p:nvPr/>
        </p:nvSpPr>
        <p:spPr bwMode="auto">
          <a:xfrm flipH="1">
            <a:off x="-17382" y="2364423"/>
            <a:ext cx="1814585" cy="2568862"/>
          </a:xfrm>
          <a:custGeom>
            <a:avLst/>
            <a:gdLst>
              <a:gd name="connsiteX0" fmla="*/ 1252208 w 1252208"/>
              <a:gd name="connsiteY0" fmla="*/ 0 h 1683045"/>
              <a:gd name="connsiteX1" fmla="*/ 1252208 w 1252208"/>
              <a:gd name="connsiteY1" fmla="*/ 1158717 h 1683045"/>
              <a:gd name="connsiteX2" fmla="*/ 655199 w 1252208"/>
              <a:gd name="connsiteY2" fmla="*/ 1683045 h 1683045"/>
              <a:gd name="connsiteX3" fmla="*/ 0 w 1252208"/>
              <a:gd name="connsiteY3" fmla="*/ 1106757 h 168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2208" h="1683045">
                <a:moveTo>
                  <a:pt x="1252208" y="0"/>
                </a:moveTo>
                <a:lnTo>
                  <a:pt x="1252208" y="1158717"/>
                </a:lnTo>
                <a:lnTo>
                  <a:pt x="655199" y="1683045"/>
                </a:lnTo>
                <a:lnTo>
                  <a:pt x="0" y="11067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304800" y="1123950"/>
            <a:ext cx="1774584" cy="769441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08</a:t>
            </a:r>
            <a:endParaRPr lang="zh-CN" altLang="en-US" sz="4400" b="1" dirty="0">
              <a:solidFill>
                <a:schemeClr val="accent2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2" name="TextBox 48"/>
          <p:cNvSpPr txBox="1"/>
          <p:nvPr/>
        </p:nvSpPr>
        <p:spPr>
          <a:xfrm>
            <a:off x="2815722" y="2052663"/>
            <a:ext cx="569962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考題說明</a:t>
            </a:r>
            <a:r>
              <a:rPr lang="en-US" altLang="zh-TW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-8</a:t>
            </a:r>
          </a:p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費式數列</a:t>
            </a:r>
            <a:endParaRPr lang="zh-CN" altLang="en-US" sz="4800" dirty="0">
              <a:solidFill>
                <a:schemeClr val="accent1">
                  <a:lumMod val="75000"/>
                  <a:lumOff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B4BC34-459D-4968-A6CE-2A9CEFE8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703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4127D0-F322-44FB-A921-16645238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9ACEF983-736A-4102-A148-581B9F4F3270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請設計一費式數列程式，此程式會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不斷要求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使用者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輸入「一個正整數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」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，請使用遞迴方式撰寫，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印出費式數列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F(n)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的結果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，直到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 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-1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則程式結束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 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費式數列遞迴式如下：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6A39506-A3D8-DE08-3275-EE49E7393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181350"/>
            <a:ext cx="4539462" cy="919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09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BE1F42D-8767-4578-8878-E998F77B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52C96B-8438-47D7-B3A7-1E9280FDCAA1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DB00C91-6CCA-44A9-B5F6-CBD1309EAD1F}"/>
              </a:ext>
            </a:extLst>
          </p:cNvPr>
          <p:cNvSpPr txBox="1"/>
          <p:nvPr/>
        </p:nvSpPr>
        <p:spPr>
          <a:xfrm>
            <a:off x="914400" y="1817990"/>
            <a:ext cx="1296000" cy="304698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0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1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2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3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4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5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6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7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8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9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10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-1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1BB6D27-5481-48F2-A84B-14B77166FC43}"/>
              </a:ext>
            </a:extLst>
          </p:cNvPr>
          <p:cNvSpPr txBox="1"/>
          <p:nvPr/>
        </p:nvSpPr>
        <p:spPr>
          <a:xfrm>
            <a:off x="3047999" y="1809750"/>
            <a:ext cx="1295401" cy="304698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F(0)=0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F(1)=1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F(2)=1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F(3)=2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F(4)=3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F(5)=5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F(6)=8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F(7)=13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F(8)=21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F(9)=34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F(10)=55</a:t>
            </a:r>
          </a:p>
          <a:p>
            <a:endParaRPr lang="en-US" altLang="zh-TW" sz="1600" dirty="0">
              <a:solidFill>
                <a:schemeClr val="bg1"/>
              </a:solidFill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0FF0FBE-4D7F-46D1-A87D-8745661731F8}"/>
              </a:ext>
            </a:extLst>
          </p:cNvPr>
          <p:cNvSpPr txBox="1"/>
          <p:nvPr/>
        </p:nvSpPr>
        <p:spPr>
          <a:xfrm>
            <a:off x="5029200" y="1436579"/>
            <a:ext cx="27758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執行結果參考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9395444-28CB-4E0C-8B9E-67B3F117DC3B}"/>
              </a:ext>
            </a:extLst>
          </p:cNvPr>
          <p:cNvSpPr txBox="1"/>
          <p:nvPr/>
        </p:nvSpPr>
        <p:spPr>
          <a:xfrm>
            <a:off x="2438400" y="1428750"/>
            <a:ext cx="32330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82F5DD0-80F5-1326-EDD1-C44EF269E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417" y="1809750"/>
            <a:ext cx="1297783" cy="304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9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BE1F42D-8767-4578-8878-E998F77B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52C96B-8438-47D7-B3A7-1E9280FDCAA1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更多測資範例如下：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291EB230-6B1C-11D7-DD4E-2FA853A2E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962150"/>
            <a:ext cx="1338978" cy="180707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899C2FF3-7432-53FF-1171-9A6E34D25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267" y="1962150"/>
            <a:ext cx="1284548" cy="181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97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0063" y="-17909"/>
            <a:ext cx="3011049" cy="4589909"/>
            <a:chOff x="-10063" y="-17909"/>
            <a:chExt cx="3011049" cy="4589909"/>
          </a:xfrm>
        </p:grpSpPr>
        <p:sp>
          <p:nvSpPr>
            <p:cNvPr id="35" name="任意多边形 34"/>
            <p:cNvSpPr/>
            <p:nvPr/>
          </p:nvSpPr>
          <p:spPr bwMode="auto">
            <a:xfrm flipH="1">
              <a:off x="0" y="-17909"/>
              <a:ext cx="3000986" cy="4589909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 bwMode="auto">
            <a:xfrm flipH="1">
              <a:off x="-10063" y="-8284"/>
              <a:ext cx="2736909" cy="4576541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3" name="任意多边形 22"/>
          <p:cNvSpPr/>
          <p:nvPr/>
        </p:nvSpPr>
        <p:spPr bwMode="auto">
          <a:xfrm flipH="1">
            <a:off x="-17382" y="2364423"/>
            <a:ext cx="1814585" cy="2568862"/>
          </a:xfrm>
          <a:custGeom>
            <a:avLst/>
            <a:gdLst>
              <a:gd name="connsiteX0" fmla="*/ 1252208 w 1252208"/>
              <a:gd name="connsiteY0" fmla="*/ 0 h 1683045"/>
              <a:gd name="connsiteX1" fmla="*/ 1252208 w 1252208"/>
              <a:gd name="connsiteY1" fmla="*/ 1158717 h 1683045"/>
              <a:gd name="connsiteX2" fmla="*/ 655199 w 1252208"/>
              <a:gd name="connsiteY2" fmla="*/ 1683045 h 1683045"/>
              <a:gd name="connsiteX3" fmla="*/ 0 w 1252208"/>
              <a:gd name="connsiteY3" fmla="*/ 1106757 h 168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2208" h="1683045">
                <a:moveTo>
                  <a:pt x="1252208" y="0"/>
                </a:moveTo>
                <a:lnTo>
                  <a:pt x="1252208" y="1158717"/>
                </a:lnTo>
                <a:lnTo>
                  <a:pt x="655199" y="1683045"/>
                </a:lnTo>
                <a:lnTo>
                  <a:pt x="0" y="11067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304800" y="1123950"/>
            <a:ext cx="1774584" cy="769441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0</a:t>
            </a:r>
            <a:r>
              <a:rPr lang="en-US" altLang="zh-TW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9</a:t>
            </a:r>
            <a:endParaRPr lang="zh-CN" altLang="en-US" sz="4400" b="1" dirty="0">
              <a:solidFill>
                <a:schemeClr val="accent2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2" name="TextBox 48"/>
          <p:cNvSpPr txBox="1"/>
          <p:nvPr/>
        </p:nvSpPr>
        <p:spPr>
          <a:xfrm>
            <a:off x="2815722" y="2052663"/>
            <a:ext cx="569962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考題說明</a:t>
            </a:r>
            <a:r>
              <a:rPr lang="en-US" altLang="zh-TW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-9</a:t>
            </a:r>
          </a:p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終極密碼</a:t>
            </a:r>
            <a:endParaRPr lang="zh-CN" altLang="en-US" sz="4800" dirty="0">
              <a:solidFill>
                <a:schemeClr val="accent1">
                  <a:lumMod val="75000"/>
                  <a:lumOff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B4BC34-459D-4968-A6CE-2A9CEFE8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36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087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6372461-FC42-42F0-B9F6-05187040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EC0B8A8-F5F8-43DA-AB50-4451D2264CC5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請設計一個終極密碼遊戲，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程式開始時先輸入一個終極密碼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介於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1~100)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，設定完成後就開始遊戲、並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提示初始範圍為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1~100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接下來，使用者會猜測並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任意輸入提示範圍內的數字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，若未猜中密碼，則會縮小範圍並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提示新的範圍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；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直到猜中設定的密碼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則遊戲結束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並顯示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PASS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 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      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(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輸入皆為整數、且不會輸入提示範圍以外的數</a:t>
            </a: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)</a:t>
            </a: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輸入輸出範例請參考下一頁。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8173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6372461-FC42-42F0-B9F6-05187040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36885637-E1C1-41FE-A907-7B77AA591B96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B0F9CE2-716E-463B-862E-323ACBD2A7C0}"/>
              </a:ext>
            </a:extLst>
          </p:cNvPr>
          <p:cNvSpPr txBox="1"/>
          <p:nvPr/>
        </p:nvSpPr>
        <p:spPr>
          <a:xfrm>
            <a:off x="2209800" y="1581150"/>
            <a:ext cx="2590800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32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55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40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30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32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975FC60-203E-400E-A205-80E1C9DDF883}"/>
              </a:ext>
            </a:extLst>
          </p:cNvPr>
          <p:cNvSpPr txBox="1"/>
          <p:nvPr/>
        </p:nvSpPr>
        <p:spPr>
          <a:xfrm>
            <a:off x="2209800" y="3304222"/>
            <a:ext cx="2590800" cy="175432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pt-BR" altLang="zh-TW" dirty="0">
                <a:solidFill>
                  <a:schemeClr val="bg1"/>
                </a:solidFill>
              </a:rPr>
              <a:t>1~100</a:t>
            </a:r>
          </a:p>
          <a:p>
            <a:r>
              <a:rPr lang="pt-BR" altLang="zh-TW" dirty="0">
                <a:solidFill>
                  <a:schemeClr val="bg1"/>
                </a:solidFill>
              </a:rPr>
              <a:t>1~54</a:t>
            </a:r>
          </a:p>
          <a:p>
            <a:r>
              <a:rPr lang="pt-BR" altLang="zh-TW" dirty="0">
                <a:solidFill>
                  <a:schemeClr val="bg1"/>
                </a:solidFill>
              </a:rPr>
              <a:t>1~39</a:t>
            </a:r>
          </a:p>
          <a:p>
            <a:r>
              <a:rPr lang="pt-BR" altLang="zh-TW" dirty="0">
                <a:solidFill>
                  <a:schemeClr val="bg1"/>
                </a:solidFill>
              </a:rPr>
              <a:t>31~39</a:t>
            </a:r>
          </a:p>
          <a:p>
            <a:r>
              <a:rPr lang="pt-BR" altLang="zh-TW" dirty="0">
                <a:solidFill>
                  <a:schemeClr val="bg1"/>
                </a:solidFill>
              </a:rPr>
              <a:t>PASS</a:t>
            </a:r>
          </a:p>
          <a:p>
            <a:endParaRPr lang="pt-BR" altLang="zh-TW" dirty="0">
              <a:solidFill>
                <a:schemeClr val="bg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5056728-9F56-4780-A422-74CC9C469AE0}"/>
              </a:ext>
            </a:extLst>
          </p:cNvPr>
          <p:cNvSpPr txBox="1"/>
          <p:nvPr/>
        </p:nvSpPr>
        <p:spPr>
          <a:xfrm>
            <a:off x="5410199" y="1809750"/>
            <a:ext cx="32330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執行結果參考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E9FF4BB4-A125-408B-B13D-038F4EDA4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09860"/>
            <a:ext cx="2977321" cy="248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062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6372461-FC42-42F0-B9F6-05187040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36885637-E1C1-41FE-A907-7B77AA591B96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更多測資範例如下：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1986A807-1BCA-B7DA-88D3-F5694DA62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025" y="1847464"/>
            <a:ext cx="1605616" cy="304195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F44605E-D04D-8B18-17C1-2F3648296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8916" y="1847464"/>
            <a:ext cx="1667084" cy="304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03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0063" y="-17909"/>
            <a:ext cx="3011049" cy="4589909"/>
            <a:chOff x="-10063" y="-17909"/>
            <a:chExt cx="3011049" cy="4589909"/>
          </a:xfrm>
        </p:grpSpPr>
        <p:sp>
          <p:nvSpPr>
            <p:cNvPr id="35" name="任意多边形 34"/>
            <p:cNvSpPr/>
            <p:nvPr/>
          </p:nvSpPr>
          <p:spPr bwMode="auto">
            <a:xfrm flipH="1">
              <a:off x="0" y="-17909"/>
              <a:ext cx="3000986" cy="4589909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7" name="任意多边形 16"/>
            <p:cNvSpPr/>
            <p:nvPr/>
          </p:nvSpPr>
          <p:spPr bwMode="auto">
            <a:xfrm flipH="1">
              <a:off x="-10063" y="-8284"/>
              <a:ext cx="2736909" cy="4576541"/>
            </a:xfrm>
            <a:custGeom>
              <a:avLst/>
              <a:gdLst>
                <a:gd name="connsiteX0" fmla="*/ 1615198 w 3583538"/>
                <a:gd name="connsiteY0" fmla="*/ 0 h 4574029"/>
                <a:gd name="connsiteX1" fmla="*/ 3429173 w 3583538"/>
                <a:gd name="connsiteY1" fmla="*/ 0 h 4574029"/>
                <a:gd name="connsiteX2" fmla="*/ 3583538 w 3583538"/>
                <a:gd name="connsiteY2" fmla="*/ 0 h 4574029"/>
                <a:gd name="connsiteX3" fmla="*/ 3583538 w 3583538"/>
                <a:gd name="connsiteY3" fmla="*/ 4574029 h 4574029"/>
                <a:gd name="connsiteX4" fmla="*/ 3577975 w 3583538"/>
                <a:gd name="connsiteY4" fmla="*/ 4569131 h 4574029"/>
                <a:gd name="connsiteX5" fmla="*/ 0 w 3583538"/>
                <a:gd name="connsiteY5" fmla="*/ 1418728 h 4574029"/>
                <a:gd name="connsiteX6" fmla="*/ 1615198 w 3583538"/>
                <a:gd name="connsiteY6" fmla="*/ 0 h 4574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83538" h="4574029">
                  <a:moveTo>
                    <a:pt x="1615198" y="0"/>
                  </a:moveTo>
                  <a:cubicBezTo>
                    <a:pt x="1615198" y="0"/>
                    <a:pt x="1615198" y="0"/>
                    <a:pt x="3429173" y="0"/>
                  </a:cubicBezTo>
                  <a:lnTo>
                    <a:pt x="3583538" y="0"/>
                  </a:lnTo>
                  <a:lnTo>
                    <a:pt x="3583538" y="4574029"/>
                  </a:lnTo>
                  <a:lnTo>
                    <a:pt x="3577975" y="4569131"/>
                  </a:lnTo>
                  <a:cubicBezTo>
                    <a:pt x="3157542" y="4198940"/>
                    <a:pt x="2196551" y="3352788"/>
                    <a:pt x="0" y="1418728"/>
                  </a:cubicBezTo>
                  <a:cubicBezTo>
                    <a:pt x="0" y="1418728"/>
                    <a:pt x="0" y="1418728"/>
                    <a:pt x="161519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3" name="任意多边形 22"/>
          <p:cNvSpPr/>
          <p:nvPr/>
        </p:nvSpPr>
        <p:spPr bwMode="auto">
          <a:xfrm flipH="1">
            <a:off x="-17382" y="2364423"/>
            <a:ext cx="1814585" cy="2568862"/>
          </a:xfrm>
          <a:custGeom>
            <a:avLst/>
            <a:gdLst>
              <a:gd name="connsiteX0" fmla="*/ 1252208 w 1252208"/>
              <a:gd name="connsiteY0" fmla="*/ 0 h 1683045"/>
              <a:gd name="connsiteX1" fmla="*/ 1252208 w 1252208"/>
              <a:gd name="connsiteY1" fmla="*/ 1158717 h 1683045"/>
              <a:gd name="connsiteX2" fmla="*/ 655199 w 1252208"/>
              <a:gd name="connsiteY2" fmla="*/ 1683045 h 1683045"/>
              <a:gd name="connsiteX3" fmla="*/ 0 w 1252208"/>
              <a:gd name="connsiteY3" fmla="*/ 1106757 h 1683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52208" h="1683045">
                <a:moveTo>
                  <a:pt x="1252208" y="0"/>
                </a:moveTo>
                <a:lnTo>
                  <a:pt x="1252208" y="1158717"/>
                </a:lnTo>
                <a:lnTo>
                  <a:pt x="655199" y="1683045"/>
                </a:lnTo>
                <a:lnTo>
                  <a:pt x="0" y="11067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73" name="矩形 72"/>
          <p:cNvSpPr/>
          <p:nvPr/>
        </p:nvSpPr>
        <p:spPr>
          <a:xfrm>
            <a:off x="304800" y="1123950"/>
            <a:ext cx="1774584" cy="769441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400" b="1" dirty="0">
                <a:solidFill>
                  <a:schemeClr val="accent2"/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10</a:t>
            </a:r>
            <a:endParaRPr lang="zh-CN" altLang="en-US" sz="4400" b="1" dirty="0">
              <a:solidFill>
                <a:schemeClr val="accent2"/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2" name="TextBox 48"/>
          <p:cNvSpPr txBox="1"/>
          <p:nvPr/>
        </p:nvSpPr>
        <p:spPr>
          <a:xfrm>
            <a:off x="2815722" y="2052663"/>
            <a:ext cx="5699628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考題說明</a:t>
            </a:r>
            <a:r>
              <a:rPr lang="en-US" altLang="zh-TW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-10</a:t>
            </a:r>
          </a:p>
          <a:p>
            <a:pPr algn="ctr"/>
            <a:r>
              <a:rPr lang="zh-TW" altLang="en-US" sz="4800" dirty="0">
                <a:solidFill>
                  <a:schemeClr val="accent1">
                    <a:lumMod val="75000"/>
                    <a:lumOff val="25000"/>
                  </a:schemeClr>
                </a:solidFill>
                <a:latin typeface="字魂35号-经典雅黑" panose="00000500000000000000" pitchFamily="2" charset="-122"/>
                <a:ea typeface="字魂35号-经典雅黑" panose="00000500000000000000" pitchFamily="2" charset="-122"/>
                <a:cs typeface="+mn-ea"/>
                <a:sym typeface="+mn-lt"/>
              </a:rPr>
              <a:t>河內塔</a:t>
            </a:r>
            <a:endParaRPr lang="zh-CN" altLang="en-US" sz="4800" dirty="0">
              <a:solidFill>
                <a:schemeClr val="accent1">
                  <a:lumMod val="75000"/>
                  <a:lumOff val="25000"/>
                </a:schemeClr>
              </a:solidFill>
              <a:latin typeface="字魂35号-经典雅黑" panose="00000500000000000000" pitchFamily="2" charset="-122"/>
              <a:ea typeface="字魂35号-经典雅黑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B4BC34-459D-4968-A6CE-2A9CEFE8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487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4127D0-F322-44FB-A921-16645238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41</a:t>
            </a:fld>
            <a:endParaRPr lang="zh-CN" altLang="en-US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9ACEF983-736A-4102-A148-581B9F4F3270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請設計一河內塔程式，此程式會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不斷要求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使用者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輸入「盤子數量」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，請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印出河內塔盤子的移動步驟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，直到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 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-1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則程式結束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 </a:t>
            </a:r>
            <a:endParaRPr lang="en-US" altLang="zh-TW" sz="20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1055435" lvl="2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河內塔：有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個盤子與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個柱子，要將最右邊的盤子全部移動至最左邊的柱子，規則為</a:t>
            </a:r>
            <a:r>
              <a:rPr lang="zh-TW" altLang="en-US" sz="16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每次只能移動</a:t>
            </a:r>
            <a:r>
              <a:rPr lang="en-US" altLang="zh-TW" sz="16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16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個盤子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，且</a:t>
            </a:r>
            <a:r>
              <a:rPr lang="zh-TW" altLang="en-US" sz="16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大盤子不能疊在小盤子上面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</a:t>
            </a:r>
            <a:r>
              <a:rPr lang="zh-TW" altLang="en-US" sz="16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遞迴為其經典解法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16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 indent="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None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本題設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左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中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右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三根柱子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分別為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A/B/C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柱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；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盤子編號由小到大為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~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en-US" altLang="zh-TW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</a:t>
            </a:r>
            <a:r>
              <a:rPr lang="zh-TW" altLang="en-US" sz="20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盤的河內塔 遞迴規則：</a:t>
            </a:r>
            <a:endParaRPr lang="en-US" altLang="zh-TW" sz="2000" b="1" dirty="0">
              <a:solidFill>
                <a:srgbClr val="FF66FF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1055435" lvl="2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1.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先將上方的 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1~N-1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盤 移到 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B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柱</a:t>
            </a:r>
            <a:endParaRPr lang="en-US" altLang="zh-TW" sz="16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1055435" lvl="2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2.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將 第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盤 移動到 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柱</a:t>
            </a:r>
            <a:endParaRPr lang="en-US" altLang="zh-TW" sz="16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1055435" lvl="2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3.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 再將 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1~N-1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盤 移動到 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C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柱，即完成</a:t>
            </a:r>
            <a:r>
              <a:rPr lang="en-US" altLang="zh-TW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N</a:t>
            </a:r>
            <a:r>
              <a:rPr lang="zh-TW" altLang="en-US" sz="16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盤河內塔的移動</a:t>
            </a:r>
            <a:endParaRPr lang="en-US" altLang="zh-TW" sz="16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zh-TW" altLang="en-US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07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4127D0-F322-44FB-A921-16645238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42</a:t>
            </a:fld>
            <a:endParaRPr lang="zh-CN" altLang="en-US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9ACEF983-736A-4102-A148-581B9F4F3270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遞迴規則參考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3025EBA4-627D-520E-8643-6D04EF8E6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65" y="1428750"/>
            <a:ext cx="2614535" cy="1733550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76D79E51-61C8-6C76-3EEE-9B2DB745B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565" y="1428750"/>
            <a:ext cx="2576435" cy="3677999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130B7F3A-893F-3AFC-7E3F-BBFE569FB1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07950"/>
            <a:ext cx="2057400" cy="495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08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4127D0-F322-44FB-A921-16645238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43</a:t>
            </a:fld>
            <a:endParaRPr lang="zh-CN" altLang="en-US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9ACEF983-736A-4102-A148-581B9F4F3270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輸入範例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5033D5B-10F6-826E-B989-86909E97D273}"/>
              </a:ext>
            </a:extLst>
          </p:cNvPr>
          <p:cNvSpPr txBox="1"/>
          <p:nvPr/>
        </p:nvSpPr>
        <p:spPr>
          <a:xfrm>
            <a:off x="914399" y="1817990"/>
            <a:ext cx="1447799" cy="132343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1</a:t>
            </a:r>
          </a:p>
          <a:p>
            <a:r>
              <a:rPr lang="en-US" altLang="zh-TW" sz="1600" dirty="0">
                <a:solidFill>
                  <a:srgbClr val="00C1EE"/>
                </a:solidFill>
              </a:rPr>
              <a:t>2</a:t>
            </a:r>
          </a:p>
          <a:p>
            <a:r>
              <a:rPr lang="en-US" altLang="zh-TW" sz="1600" dirty="0">
                <a:solidFill>
                  <a:srgbClr val="FF972A"/>
                </a:solidFill>
              </a:rPr>
              <a:t>3</a:t>
            </a:r>
          </a:p>
          <a:p>
            <a:r>
              <a:rPr lang="en-US" altLang="zh-TW" sz="1600" dirty="0">
                <a:solidFill>
                  <a:schemeClr val="bg1"/>
                </a:solidFill>
              </a:rPr>
              <a:t>-1</a:t>
            </a:r>
          </a:p>
          <a:p>
            <a:endParaRPr lang="en-US" altLang="zh-TW" sz="1600" dirty="0">
              <a:solidFill>
                <a:schemeClr val="bg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FC26106-8ED3-9A47-6A74-8585D8DAB0C4}"/>
              </a:ext>
            </a:extLst>
          </p:cNvPr>
          <p:cNvSpPr txBox="1"/>
          <p:nvPr/>
        </p:nvSpPr>
        <p:spPr>
          <a:xfrm>
            <a:off x="3047999" y="1809750"/>
            <a:ext cx="2057401" cy="304698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chemeClr val="bg1"/>
                </a:solidFill>
              </a:rPr>
              <a:t>move 1 from A to C</a:t>
            </a:r>
          </a:p>
          <a:p>
            <a:r>
              <a:rPr lang="en-US" altLang="zh-TW" sz="1600" dirty="0">
                <a:solidFill>
                  <a:srgbClr val="00C1EE"/>
                </a:solidFill>
              </a:rPr>
              <a:t>move 1 from A to B</a:t>
            </a:r>
          </a:p>
          <a:p>
            <a:r>
              <a:rPr lang="en-US" altLang="zh-TW" sz="1600" dirty="0">
                <a:solidFill>
                  <a:srgbClr val="00C1EE"/>
                </a:solidFill>
              </a:rPr>
              <a:t>move 2 from A to C</a:t>
            </a:r>
          </a:p>
          <a:p>
            <a:r>
              <a:rPr lang="en-US" altLang="zh-TW" sz="1600" dirty="0">
                <a:solidFill>
                  <a:srgbClr val="00C1EE"/>
                </a:solidFill>
              </a:rPr>
              <a:t>move 1 from B to C</a:t>
            </a:r>
          </a:p>
          <a:p>
            <a:r>
              <a:rPr lang="en-US" altLang="zh-TW" sz="1600" dirty="0">
                <a:solidFill>
                  <a:srgbClr val="FF972A"/>
                </a:solidFill>
              </a:rPr>
              <a:t>move 1 from A to C</a:t>
            </a:r>
          </a:p>
          <a:p>
            <a:r>
              <a:rPr lang="en-US" altLang="zh-TW" sz="1600" dirty="0">
                <a:solidFill>
                  <a:srgbClr val="FF972A"/>
                </a:solidFill>
              </a:rPr>
              <a:t>move 2 from A to B</a:t>
            </a:r>
          </a:p>
          <a:p>
            <a:r>
              <a:rPr lang="en-US" altLang="zh-TW" sz="1600" dirty="0">
                <a:solidFill>
                  <a:srgbClr val="FF972A"/>
                </a:solidFill>
              </a:rPr>
              <a:t>move 1 from C to B</a:t>
            </a:r>
          </a:p>
          <a:p>
            <a:r>
              <a:rPr lang="en-US" altLang="zh-TW" sz="1600" dirty="0">
                <a:solidFill>
                  <a:srgbClr val="FF972A"/>
                </a:solidFill>
              </a:rPr>
              <a:t>move 3 from A to C</a:t>
            </a:r>
          </a:p>
          <a:p>
            <a:r>
              <a:rPr lang="en-US" altLang="zh-TW" sz="1600" dirty="0">
                <a:solidFill>
                  <a:srgbClr val="FF972A"/>
                </a:solidFill>
              </a:rPr>
              <a:t>move 1 from B to A</a:t>
            </a:r>
          </a:p>
          <a:p>
            <a:r>
              <a:rPr lang="en-US" altLang="zh-TW" sz="1600" dirty="0">
                <a:solidFill>
                  <a:srgbClr val="FF972A"/>
                </a:solidFill>
              </a:rPr>
              <a:t>move 2 from B to C</a:t>
            </a:r>
          </a:p>
          <a:p>
            <a:r>
              <a:rPr lang="en-US" altLang="zh-TW" sz="1600" dirty="0">
                <a:solidFill>
                  <a:srgbClr val="FF972A"/>
                </a:solidFill>
              </a:rPr>
              <a:t>move 1 from A to C</a:t>
            </a:r>
          </a:p>
          <a:p>
            <a:endParaRPr lang="en-US" altLang="zh-TW" sz="1600" dirty="0">
              <a:solidFill>
                <a:schemeClr val="bg1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C4B2180-706C-CA4C-9702-2AF617F2C561}"/>
              </a:ext>
            </a:extLst>
          </p:cNvPr>
          <p:cNvSpPr txBox="1"/>
          <p:nvPr/>
        </p:nvSpPr>
        <p:spPr>
          <a:xfrm>
            <a:off x="5029200" y="1436579"/>
            <a:ext cx="27758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執行結果參考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68B50B0-9A37-9B9E-E104-24EB92C2AD37}"/>
              </a:ext>
            </a:extLst>
          </p:cNvPr>
          <p:cNvSpPr txBox="1"/>
          <p:nvPr/>
        </p:nvSpPr>
        <p:spPr>
          <a:xfrm>
            <a:off x="2438400" y="1428750"/>
            <a:ext cx="32330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輸出範例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24C227B-105C-7E13-1CB0-DA490517B94C}"/>
              </a:ext>
            </a:extLst>
          </p:cNvPr>
          <p:cNvSpPr txBox="1"/>
          <p:nvPr/>
        </p:nvSpPr>
        <p:spPr>
          <a:xfrm>
            <a:off x="702151" y="3512260"/>
            <a:ext cx="2285998" cy="941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本題範例提供顏色標示，</a:t>
            </a:r>
            <a:endParaRPr lang="en-US" altLang="zh-TW" sz="12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供方便對照輸入與輸出。</a:t>
            </a:r>
            <a:endParaRPr lang="en-US" altLang="zh-TW" sz="12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提醒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：大小寫務必相符 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!!!</a:t>
            </a:r>
          </a:p>
          <a:p>
            <a:pPr marL="48960">
              <a:spcBef>
                <a:spcPct val="20000"/>
              </a:spcBef>
              <a:buClr>
                <a:schemeClr val="accent2">
                  <a:lumMod val="50000"/>
                </a:schemeClr>
              </a:buClr>
              <a:defRPr/>
            </a:pP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提醒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</a:t>
            </a: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：中間空白為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1</a:t>
            </a:r>
            <a:r>
              <a:rPr lang="zh-TW" altLang="en-US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個半形 </a:t>
            </a:r>
            <a:r>
              <a:rPr lang="en-US" altLang="zh-TW" sz="1200" b="1" dirty="0">
                <a:solidFill>
                  <a:srgbClr val="FF66FF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!!!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16BE5FC8-E4EA-CD61-A237-98A775AE8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1497" y="1799758"/>
            <a:ext cx="1796941" cy="30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03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F4127D0-F322-44FB-A921-166452381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6CB991-6BD3-42F2-8A94-1903E9425430}" type="slidenum">
              <a:rPr lang="zh-CN" altLang="en-US" smtClean="0"/>
              <a:pPr/>
              <a:t>44</a:t>
            </a:fld>
            <a:endParaRPr lang="zh-CN" altLang="en-US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9ACEF983-736A-4102-A148-581B9F4F3270}"/>
              </a:ext>
            </a:extLst>
          </p:cNvPr>
          <p:cNvSpPr txBox="1">
            <a:spLocks/>
          </p:cNvSpPr>
          <p:nvPr/>
        </p:nvSpPr>
        <p:spPr>
          <a:xfrm>
            <a:off x="304800" y="971550"/>
            <a:ext cx="8534400" cy="3962400"/>
          </a:xfrm>
          <a:prstGeom prst="rect">
            <a:avLst/>
          </a:prstGeom>
        </p:spPr>
        <p:txBody>
          <a:bodyPr/>
          <a:lstStyle>
            <a:lvl1pPr marL="273050" indent="-27305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fontAlgn="base" hangingPunct="1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rgbClr val="A28E6A"/>
              </a:buClr>
              <a:buChar char="o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注意：</a:t>
            </a:r>
            <a:r>
              <a:rPr lang="zh-TW" altLang="en-US" sz="2000" b="1" dirty="0">
                <a:solidFill>
                  <a:srgbClr val="FF9D3B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輸出格式需與輸出範例相符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，包含大小寫、空白、換行</a:t>
            </a:r>
            <a:r>
              <a:rPr lang="en-US" altLang="zh-TW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…</a:t>
            </a: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等。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r>
              <a:rPr lang="zh-TW" altLang="en-US" sz="2000" b="1" dirty="0">
                <a:solidFill>
                  <a:schemeClr val="accent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更多測資範例如下：</a:t>
            </a: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506160" indent="-457200">
              <a:spcBef>
                <a:spcPct val="20000"/>
              </a:spcBef>
              <a:buClr>
                <a:schemeClr val="accent2">
                  <a:lumMod val="50000"/>
                </a:schemeClr>
              </a:buClr>
              <a:buFont typeface="Wingdings" panose="05000000000000000000" pitchFamily="2" charset="2"/>
              <a:buChar char="n"/>
              <a:defRPr/>
            </a:pPr>
            <a:endParaRPr lang="en-US" altLang="zh-TW" sz="2000" b="1" dirty="0">
              <a:solidFill>
                <a:schemeClr val="accent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0A678A5F-D8A8-E65D-4054-88D96DA60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175" y="2038350"/>
            <a:ext cx="1555630" cy="2576513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E1C04CA2-A8D1-B3D7-1FAB-580F93F24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1422400"/>
            <a:ext cx="107395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912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COURSE_ID" val="82ADB108-2F67-4B4E-A97E-19ABB6FAC58E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JCuo0gOaiROYgQAAAURAAAdAAAAdW5pdmVyc2FsL2NvbW1vbl9tZXNzYWdlcy5sbmetWG1v2zYQ/l6g/4EQUGADtrQd0KIYEge0xNhEZMmV6DjZMAiMxNhEKDHVi9vs037Nfth+yY6UncR9gaQkgG2YlO+54909d0cfHn/JFdqIspK6OHLeHrxxkChSnclideQs2MmvHxxU1bzIuNKFOHIK7aDj0csXh4oXq4avBHx/+QKhw1xUFSyrkVndr5HMjpz5OHHD2RwHF4kfTsJkTCfOyNX5DS9uka9X+qff3n/48vbd+58PX2/l+sDEM+z7+0DIIr170wMoYFHoJ4BG/CQg58wZmc9hcuGC+TQgzmj7ZZj0PCJnzsh8dsotoogELIl96pGExkkQMusLnzDiOaML3aA13whUa7SR4jOq1wLiWMtSoErJzD5INWwUjehS5oUzTIMkIjGLqMtoGDijWJfl7S8Wljf1WpegrkKZrPilEpnVCRljn9+UogLVvIaMQvCq1xJ+qXMui4NO1RFe0mCSsDD044QE3m7HGZEiQ17JjZqBKBGOSQQAJa9E+QjZxGaZFUdYqWEIUzqZ+vBmxoSpXK0VvOuhdswJxGAuii4pyBESQXbF8TKMPOM0UIU4uuFV9VmX2V5+PAxUFzAN3BBS0GUPwJnB2AFDjCXUjbIUad0FNiNxjCckGYfnkMjAu3CIRHgKdDsdInFBYqAIibtkAnxGJ9gkvKHYLv93/Eq5SWd1i3iagpxx30bqpoId41JggWVadTBMTUw+LiBsFPs/oHGLCt61q5XcCLCjzETZqQgqi0s8k0UfF/SP5ARTn3gJpJUXLhNmS57RmPNbVOga8WzDi1SgS5HyBnL9Fp5lMrPPTJyt/k+N/BvxeltVXm0LUuCR81dD7dmrYd8xq6nAproW+U3dpdo4bGv+Y6wwOf1DE/oc/XH6Y5cEOKLh80Smknmj2qr75PjcWTY0Rp1GPNFT/aP13JbEbW0dUyhYY6n7SxDopqZ/QANU/aVocAKK5m2JhhpOi6sBOoNwCxBo9FiMM3DVngln4MIB8ksyjimD2WgpLitZd44dlo1tgL4f2hTmPCVqcU/GS3GlYcJRgm/a6QO6kI10Z0AfDDd7rYJR5oPJAQCu2uQBSCVzsD/rgbmYkZ0H2gK/d5KlblRmyavktS3y4NsmF9+OTVelzu2u4tUuedsmc/wUK9rDRa3S+YD2f8e/3vF5QL/HRykmOHKniYsDl5hB33BV9RQCChhX+CxOfDw24sCFnNfpGprplW6KrCdQO6t75AQD2PbMseBluv7vn397YnxlSbuLtru/DwIBYpsqSO7A/gx0Laq/ukAYHu/L2UUfqe3dZifX86rDKGThs9wheNtacp3D1kG3XkjybdAwY9idzoAHsU173ZQwug1BmOHoFGqZncKd0YyX11AImdZqEIp1tUnAepj2++tlUytZiCGyT2sl5sCMzhPsefauDeRTMr1ue2YGN4p0e+lWcOnuC+ZOcQB19is8kcl6IKBtTbsqBERv1/c033zbqe5Wlf3D4vD1g/8v/gdQSwMEFAACAAgAkK6jSAh+CyMpAwAAhgwAACcAAAB1bml2ZXJzYWwvZmxhc2hfcHVibGlzaGluZ19zZXR0aW5ncy54bWzVV91u2jAUvucpLE+9LGk7unYooaoKaNVaQIVt7VVlYkOsOnYW21B6tafZg+1JdhwDBbXr0h+kTQgRn5/v/J+Y8Og2FWjCcs2VjPBudQcjJmNFuRxH+MugvX2IkTZEUiKUZBGWCqOjRiXM7FBwnfSZMSCqEcBIXc9MhBNjsnoQTKfTKtdZ7rhKWAP4uhqrNMhyppk0LA8yQWbwY2YZ03iOUAIAvqmSc7VGpYJQ6JHOFbWCIU7Bc8ldUES0BdEJDrzYkMQ341xZSU+UUDnKx8MIvzs8dp+FjIdq8pRJlxPdAKIjmzqhlDsviOjzO4YSxscJuHtQw2jKqUkivFdzKCAdPEQpsH3oxKGcKMiBNHP4lBlCiSH+6O0Zdmv0guBJdCZJyuMBcJCLP8LNwfWnq17r4uy08/l60O2eDU573olCJ1jHCYN1QyE4pGwes6WdkBhD4gT8Bp0REZqFwSppITZScs05d0ZDJSD3hRa0UTpktENStlKN/g2XbZDcxWgEgYhZhI9zTgRG3BDB46WytkNtuCmq3l6VRIAF7cnQeR/fm/fZiROSa7bq1oKjXc7jxjdlBUUzZZHgNwwZhSB+m8JTwtBqcdAoV2lBhfYxSAsOFiecTRk9KnI6B/yToSswkVrQhF7NBDPewnfL79CQjVQOuIxMoLOBzrXHrz4LOCNa34OShY9b/bPTZuv6tNNsXW65AAmdEBk/ExwKztLMbASfzJBUZqEH6YiJ1awoCuW04JWJrfryMmieWuHL/NbFWIHeYEk2Y+U5hfmrB6XNJmRSDKIbrgIaRpBDSTwmMGJYF1xaVhYwJhIpKWaIxLDWtBvrCVdWA8UPsIfWL/fQ6yMui9MYVhtYzCnLS0Hu7O69r+1/ODj8WK8Gv3783H5Sab7we4I4c37jnzy58pdr/+E2DAO3pR9f2ia3/+bO7l20vpbJa6d1OShV0la/FFy3jFT3cxmpC/+S6a28YEq5AEtp7IcM1pLgKTeMvmWLvaBNXvVu9z22mTbZYMyvGY3/JmR/Wl4T1+6FYfDoxdVxUi55ColwK3F5223s13bgpvkoq1IBtPX/Do3Kb1BLAwQUAAIACACQrqNItfwJZLoCAABVCgAAIQAAAHVuaXZlcnNhbC9mbGFzaF9za2luX3NldHRpbmdzLnhtbJVWbW/iMAz+fr8Ccd/p7pWd1CExxkmTdrfpNu172po2Ik2qJGXHv784TdYEKPSwJhH7eWzHsc1StaV88WEySXPBhHwGrSkvFWq8bkKLm2nWai34LBdcA9czLmRN2HTx8af9pIlFXmKJHcixnA3JoQ8zt58xFBfj2xxliJCLuiF8/yBKMctIvi2laHlxMbVq34BklG8N8urHfLUeDMCo0vca6iin9TXKOEojQSnAlL6vUS6yGMmA+UhX9jOS04c6f/sD2o4qqi1t+QlliNaQEuIiXy9RhvHceI9fZY5ynqDhrzbQL59RBqGM7EHGzu++ogwyRNM2/9MjjRQlFjTmnH/Edw4TpDDjh1ldoVwk4IUw0MVXcOWxd70LQO5rOPcpjqsU7AnrerAQ8NEzBgstW0gTf+psqhJvj6028wGLDWHKAEJVD3oyST+RVnk3sa7H/YE3yovQl9P0kFfB2hpWXcKBu1jf41erW7srQqfvuiBDCTunDFLslT3yt6nrETJQ9shnRgt45Gx/nMGhqSP5R74l7jnP199YgRNzLJzVn7wVIz3g6KogVafwmFoUsFCYzgutAd8tTayuSyk5yinlZEdLoqngvxCX7e1lVJocGFyvne6sVFPN4FTD2RzNmg7LZc9xPzpr3JDdz0J/ue480WaL30yJ1iSvavOzpKYTxzNjYgozTU4zcE8aOMh7vhEBx8YeItVEbkG+CMHGhuFCgxrrXnTDNQRPk6AGaXK6yqlzcqr8vK0zkGvzahSUr3Ks7IAVLStm/vQrhTcoDhgD1o6qK+OPE/rel4HCNQEQmVe+a7tDZ6lbpimDHfjhDxT2ykN3S5Xp0qGGW+oH2Oiw5ZxmVE+6XdH3SrxDAv0J/KtJK3J8YBnR9ppkyt4smny/hvtcosXs1xk2X7jJ7Nn1UuTY2I8raJT47+Q/UEsDBBQAAgAIAJCuo0gqlg9n/gIAAJcLAAAmAAAAdW5pdmVyc2FsL2h0bWxfcHVibGlzaGluZ19zZXR0aW5ncy54bWzNlm9PGjEYwN/zKZouvpRT56YjdxgjGIlOiLBNX5lyLVxjr721PfB8tU+zD7ZPsqdXQIiOnUaWhRDo0z6/51/7tOHRfSrQhGnDlYzwbn0HIyZjRbkcR/jL4HT7ECNjiaREKMkiLBVGR81amOVDwU3SZ9bCUoMAI00jsxFOrM0aQTCdTuvcZNrNKpFb4Jt6rNIg08wwaZkOMkEK+LFFxgyeESoA4JsqOVNr1moIhZ70WdFcMMQpeC65C4qIM5sKHPhVQxLfjbXKJT1RQmmkx8MIvzs8dp/5Gk9q8ZRJlxLTBKET2wahlDsniOjzB4YSxscJeHuwj9GUU5tEeG/fUWB18JRSsn3kxFFOFKRA2hk+ZZZQYokfenuW3VszF3gRLSRJeTyAGeTCj3BrcHt202tfXXQuz28H3e7FoNPzTpQ6wSonDFYNheCQynXMFnZCYi2JE/AbdEZEGBYGy6L5spGSK865MRoqAakvtTAagaeiiPCx5kRgxC0RPF7MWqLHzJ5yATE43d36SFr8CPTxxgnRhi0bms8Yl8W4+U3lgqJC5UjwO4asQhBRnsK/hKHldKORVmkpFcRYZASnDE04mzJ6VGZpBvyToRswkeagCZsvE8x6C99z/oCGbKQ0cBmZwFYFOTeeX38ROCPGPELJ3Met/kWn1b7tXLba11suQEInRMYvhEMJWZrZjfBJgaSycz1IR0xyw8qiUE7LuSqx1V9fBsPTXPgyv3UxltAbLMlmrLykMH/1oLLZhEzKg+gOV4mGI8ihJJ4JEzEcdy5zVhUYE4mUFAUiMTQq4471hKvcgMQfYI82r/fQ6yMuy9EYbg6wqCnTlZA7u3vv9z98PDj81KgHv3783F6rNGvhPUGcOd/DT9Y28UUjf9oNw8D1zufbsNX5v+rCvav21yqZumxfDyoVqd2vhOtWWdU9r7Lqyl8bvaUro5IL0GbG/thAoxE85ZbRt9w0ryj8+vvXb4s3KvwGo1i7ff/fIPxo8dxaeV+FwbMPwBrIVx/TzdpvUEsDBBQAAgAIAJCuo0hocVKRmgEAAB8GAAAfAAAAdW5pdmVyc2FsL2h0bWxfc2tpbl9zZXR0aW5ncy5qc42UTW/CMAyG7/wKlF0nxD5hu6HBpEkcJo3btEMoplSkSZWkHR3iv68OX03qjsUX8vLkdewq3na61WIR6z53t+6327/7e6cBalbncO3rokVPUWdGJAuYJSmIRAILkOJ49CTvzgRlzKQznZcfaGtqfkzhP0suTB3PCAtNaIY6XBDgN6FtqMM/J7FTq2tfU63R89xaJXuRkhak7UmlU+4YdvXqVr3EAFYF6AvokkfgmQ7caiPPjg8DjDoXqTTjspyqWPXmPFrHWuVy0ZZ/VWagq0++3gP9p8HLxLMTibFvFtIw8WSI0U5mGoyBQ97HCQYJCz4HUfPtu/UH6hk3CwroIjGJPdKjG4w6nfEYGl0ajjB8TFZejW4OMJqchY3dE3e3GB4heAm6YTW+x/BAleXZPz5gplWMHWmgzZ6fUKH4IpHxIXUfg+Twsmjb1r1zoe76Y+Y9IRU8oRX1/NK22RGChgCtN5aOeU2Qd0rZCUqURA5FaNS0Kug5YsM5gvvPLuPW8miVVuOhGo5VG7heg54pJarbf126Z5irs/sFUEsDBBQAAgAIAJCuo0g9PC/RwQAAAOUBAAAaAAAAdW5pdmVyc2FsL2kxOG5fcHJlc2V0cy54bWydkbEKwjAQhvc+RbjdxG6lJHUT3Bx0lpqmGmkvJZdaH9+UinSRgEMg//F9PyQnd6++Y0/jyTpUkPMtMIPaNRZvCs6n/aYARqHGpu4cGgXogO2qTNq8wKM3ZAKxWIGk4B7CUAoxTRO3NPjYQK4bQywmrl0v4ukditkUw6LC4pb2L/szgyrLGJPX0XbhgFW8x7QgjLxWMDsXjdxi60D8AhqTAEyqwVACaH0CeAwJwI8rQIrvm+ekRwrxo2KQYrWeKnsDUEsDBBQAAgAIAJCuo0izv7NQbQAAAHIAAAAcAAAAdW5pdmVyc2FsL2xvY2FsX3NldHRpbmdzLnhtbA3MPQ6DMAxA4Z1TWJ7K0L+NgcDGWFUqPYAVLITk2CixqnJ7sr3h0+vHfxL4cS6bacDn7YHAGm3ZdA34nadrh1CcdCEx5YBqCOPQ9GKR5MPuFRbYhQ7OM6cazi9KVb4zF1Ynr2e4RNuPFu9DcwJQSwMEFAACAAgARJRXRyO0Tvv7AgAAsAgAABQAAAB1bml2ZXJzYWwvcGxheWVyLnhtbK1V30/bMBB+LtL+h8jv2C0dA6oExJDQHsaE1LHtrTKJm3hN4sx2COWv39nO76VsSHtolZzv++58993Fv3rOUu+JScVFHqAFniOP5aGIeB4H6OHr7fE5urp8d+QXKd0z6fEoQGXODYCmyIuYCiUvNIDvqU4C1DNgYEZeIbmQXO+B+xS420gnS/TuaAYuuQpQonWxIqSqKswVIPJYibQ0JAqHIiOFZIrlmkni0kBeg13pv6Phl4mc6H3BVA9Z6LcHrklajmfFByTVEgsZk5P5fEF+3H1ehwnL6DHPlaZ5yJAHlZzZUj7ScHcnojJlythmvktyzbQ2SVjbzNcrvjjPPSXDADmHTcaUojFTOM1jRByWTID9bUpVUvOoAa3hVTte81q/jXnfNG62c6RzLsrHlKsEjvqQzjoJ9Mkwqp/Z61oFPTQKujVMyJPsV8kli+zrt1aM8wVyAVvF2TyxqkI4gKdbGmoh9zcAAxXVHcRt07BrGraglgO30dcdBWpuu2VUl5I1pZr5Tzxi4guVkhpZXGpZMp+MjDWWDME+cVeum9Q1xE90lp7+Q2+M36g1P9VrnbGA/9GYT0DU1oTnEXu+5eCjWQY11QyKbWxYFyk2MbucVPmY9XQ9MLkc66bARTxNZcxgDCOqKens5BCUSarAJSzlCNs7OAhOeJyk8NOTDOPTgzQZlbtJht7BQXAqwt0EtDW3ZSTjOo7E1CrIJxPrxA9LpUXGX6w8B3tGr6wOXxu55ui64O3B2fyPURzEaAZziyZWl3nq7avm8N7MqVadz6ZwloFaYR6YLgvn1cxCWYx8IralZapv+jk1+7AHHeU8NR3TXN9B76Ja8xfmVTwyX7rF0tQkYUYzAfpwvuwxQD9huwzCW9OhiFuRN3XAmNg3928r2mz5unWu64c67EMNnzirHMbN1EdQRyxFmUejHuKi+4ioFHbatWTUS9kWbrQ4AZGKIkDv4aG+88XpRXfls8VFg7V53bvALpc3rPQ64U5BpNZ1exG/3g3w+BtQSwMEFAACAAgAkK6jSIyYS/o+CAAAjyAAACkAAAB1bml2ZXJzYWwvc2tpbl9jdXN0b21pemF0aW9uX3NldHRpbmdzLnhtbLVa627iShL+v0/RYnWks9IqXMwtK4aVL01iDTEc7CQzu1qhBneCFdvNsRtmOOLHPs0+2D7JVrftYBMgdmYWT6JxddVX1XXrCxnEL16ob2LOAu8Pwj0W2pRzL3yOh39CaLBkPoumEY0pj+sHyqMXuuybGT4xQQNqzEnoksjVxWg8bKCR/KB+T+0bfXhra+0W6rVxC/eRgTs6jF0rxrWiw5jRauqD+hFEghvRJQ35adRBvTD6VsAMYxpxM3Tp96FS5M4PFWdwExHXA7542G2LZ59p3Rtt8aB2s9Pr4H1LVRSli/SO0TQa+17vuqc2EW60Ow1lr/VbSktBzU6ned3dN3utjgJvo+suoLTxdRe1e+12y9i3cAukkapqRkvf95TrZlMFbbh/re9HI63XaKBms6m0jX2nq4y0BgJuBTBUpS8cqBiKpnT3qqY2+woa6SNt1N5jA3f1Duq3cLfR2Lc1TWk0Ds49zC7vrgO19HQyd74DeDIEJ0dFbtVPJNdguYkiYHZosPYJpygkAf1UkzkZcpmx6NclW+/+UksTVCZzxp7ZVaQmRCALsOEJrEFdjmRs0q58YeTpyHM/1RYbzll4tWQhB6irkEUB8WvDPye5k86sjCTb0qiK3BNZ0oO6nvyUFUt1QT7Dc0loyYI1CXdj9syuFmT58hyxTeiWMnO1W9PI98IX4G5c93R8UZHvxdzkNCjYh/viKS+2hnjGVJjXxeIpJemTBfUzjQ35qSB3UPm+R45Et17scSmqNsVzSXRNnmkxAH1VPJdlQtBSjFpPPO8LcfqdA7siyr91kd0nOxoVlSTt8qIUW2/WVfNpHbFn4eyi3PuBfpXzGXSf8FlY2BBPKSExQaGwVJRSt8n5G0eM6etxLxkEoAWCm28uKUlCTrW5PrmbqtbX+XhyM5lr5k1tqCdViURZ/trq9r83O13oXKlcSST7Th2Pi1hIgnUa5bAsZzYZzwEQj+cW/uLUhuJ3ZdHJvTM2LVwbpv+pDDCd4YfaUPwuI3o/m2HLmdtj08Bz055bE0f6ZYwdbNSGX9kGrciWIs7Q1qPfEF9RBO3ZiyiKfc+VA6Jle+GGltBnTO5U05rPsO3MTN0xJ1ZtaLMo2v1VIpMNX0HyrEiMXC8mC5+6Ui2kiBxf51co+MdXHnCygHjhVRntM/XRtG7mzmQytufYMjJKbYhDFxkREZqqA81UG88AIyKwjn9MfC6zTyIg1fcrg9yaN7dj+HGEIbfe88qHH/4Ba6YYQjKlYQlBSBw8g6yz7cfJzBA+BIWIoDWJ428scgtJkw9dCWzT0ieQmrqTw3cETIYNgffCJaQOXfISeHfYttUbPNcmXyDHoTYnFYUmn6EkP1cU+optqCFslxCz1AfzRhUVIcowK5CsBpdE5Lu/Q2S5BDnhza3HNjFQhIehTGQ1xleVNdn4t3sIpKmOz1R7AgzOlm/P3paCKZELy1wJXdCGdGyI7Prt3vzHfKSaY2zMId2MyePckV1SKA3IDoWMI+JuSbikaEGXZAOVsIMx13PlmIi8NOH3jfcHIjztP7+krcsy8JdfPmBSoeGdsAz2y6AMtilr/p524bZ0Bh80ROT6WSvKOODDJtg6ttSZOfk5IYq9YOMnXfpnBOrVuKrBeteOH/dX+bD9H4yxkxasmdDRNI9VEsKwEoslBxZPv5KgaY1AXXpYhIYvTqiVAKxJimEx9AMwD+C5giEP4NFqEI9Ys00HNluPdCFOHyWEZa0mUTsdb3FG9Ckc0F9LdUGfGOyXfEq2yUYG1i4Z/jJRzm2VCkuLYzpjMNwCzOckqQDV9wJxhioHe3+HM1ckq0FhPo9s47uyun3vRa4I4OdNQN/uw54iFkiqT+Isr5NF6e8/aEgyxVmid1ptA/FaoKVjlavPH4qYjdWZfjvXVUvH4kQh6tkvLwfVIXwyduz5WNUEApRJQPhyBavwkzjnlcdKTgQGHqmAl07epiRarv777/+UhzmyJ6GilPq3qjhQ/KJr4le8f1qM0/hfJXAcVSuKypeSgumBKhMtf75yTEjQn3JkIcmyFLBAXHGVUg0lkIZRdRxVv72DKrFlUbBNBHvBiiB36uwzND65168N70j0Ao3TYcyvCiQ9L3KTV7bhcMTdcN8LaUXxH16JxOQdczpXDUOe/aFGfW/5kiy/Lhxg0ms+5LPnKnj6rWpBdz6CpK7Hq2PKxS3rWtASkvdDQ9ieXOteCYcLFZ9AD+eF+5mQR8yfiputt1e5wCAu4iCNhzwSR/rsLc8Rr9i3NHbDJ+LHwJYnHbNOwYap2CymkEXaMfdM1I6bx00px4wPzId1QU+mk4Mu0o+ldF2TN795Ba+0N5bDMSsdypl+IB7zW/Q7f8OfIx7z22JNmcC57q1Nx0N50ew6TiNRnl4mdsBDQ9mlUp7srcgjLBiLa9k4N5GUUOQMmEuHcm10vICm5SxoeYPrZywehK/blzshs9jJacfia4fCwCF965fzd8A97tPzyS3nASWYd7V8P1UBKc+pEki+Pjh2RkJFfLemn2pwECHLlej0cQ2lGJ9qwp3JNzTn5NZZPxPtLCcprbksGsh+Ltt5JZWh6OLVVLGk2C8LDepv/DSoX4rQIIU9H8BwEyxohCEHPOhyaYSKxDz7KrsKe5A70iO5M6N5AL4C7BDOSFkl5AiFxJLbqqxakpf8OOwtuefTLc1aVY6Qc87l+Q9iqI7Lya3yMX3i+fROKZWrIO11h1ws9sAc/ayUPJHllRyNVCw6ThaxnP2JbpUtPgcbTyxHWZsW6Z7v0IwfRb1+QhXwnvP+oJ5fZqFHvfmW9ZgGooB39m8O/gdQSwMEFAACAAgAkK6jSCqKN+aHEQAA8GEAABcAAAB1bml2ZXJzYWwvdW5pdmVyc2FsLnBuZ+3d+VeS2f8AcEszJ2eizcwsbZq0xQXUGjMXWmzSkXKd1FLR1GwzNTMUWVKnsUUldcpdmlzaJW3S3MAlJdSgCZXSlAqFEJUQkR0+9J2az4x+5g/4nvNwDni49znPva/73NUf3lzyOrDvm0WrF2lpaX3j7ubqo6WlA9PS0o7T09WkqHZb7tP8mRfvs2+3VhV1DVfzRSdq1/5dWlrVOH1F2ALN969i3QLjtbQWt396zyPH3I7Q0gq74O66yy8xZGIIfuVBpJIsUOajtJzPH9AGteV+tHya9SNk04+uznrL59ssmXgGKf/ouv5F2jL9+Xt0Lnl5KrRTkJWBFJlobZNiSH7uQT2fdujRUcI2JuOX/fUcWml9FaOnNIlP6yE+LlBIpume9vxm8TC7BDFcL5Gyi2Jk3K9XhZ6fp/v3j7c/rF6lLDvkti2bizvMgrpI3qYZS7uuuNw01P4a0qL194/7Nl7REYoneuamWEV1wM2Vtv/MhrTsTNbucxsjP6BB1U3KsPt3YCb7MiNmlXcjPeWEWd0Y72xQIk4fQZss+Gf2+ZRI7b4fTyuVfKwhDFY1p7rnU8Df+FnUV1ha5ZlFjWTMzv8QuRPivcTAVXd2Rr7REliTd2LZnPvNay1n/PwsogdtN0tz1fghxHvpT3Nv9RBCuZezjNMzt+yWNte9fkuNZpfR0lbuv9R355D97Batn6e/3MB7b8ScOunnNm3ZHEfNmG0P0bWE+bkaZM++XpOMNLBZ0AsgAASAABAAAkAACAABIAAEgAAQAAJAAAgAASAABIAAEAACQAAIAAEgAASAABAAAkAACAABIAAEgAAQAAJAAAgAASAABIAAEAACQAAIAAEgAASAABAAAkAACAABIAAEgAAQAAJAAAgAASAABIAAEAACQAAIAAEgAASAABAA4v8RIkXaNvKI5jIo+R/RAs+nqO1ju8MS0+bG0dM9bb8uP+BVwCqb2WEBW3rOh77PbDNeMCeioJ750YNHD85OhcT+e/v+W/I12ObIOXV9dh5MmWc+v2zn3RezylirKTr1Umib1uwq+QucYS7SkdznHuDm35OmKBvtcU5Tz9gpC0221+NFZ/q6/cFRzU1rx/IY3qP/LNDaHqJEzayA5gXLbfs4jSJhHUkZPe0Q06wSbWVxGSrMLUkiWVUMDclHSd6lF5mqJeSNhm7WjU3IJN7oTFa7qck/YynCtflE+SRFVaH+dtdNF84DRjTlnDO1Hu1CYgedgFSzRfAdeGk7K3TqTTyt5CdLo/TDYARy+0kT9QXDkFe9tG04ebupKlZIdeSjJuLgaFHfczBGcOUKnuYiH7/LecwWC7d3Y5c0CTqN4SVKPlYtH6RikGBRYiP10eSpN0yoWkobNAE3M4J/qHovDkAGmqCn/3geSeD8VlqFLDi6t3Zc/sJROE3N//L0c1JkHtO+ykWXtnmHcuNKk9gFHTQzXtz1Ulq9S9PkzN30ZXEQB8bqn8Din0jVjI3ViKEERsfG7pOl4mbxsPwx+d4rH1IIvphBi8EIiwzVjWxpUnG7WuveI4KXT5SqmY/mv1cz6g9KViG8QY3yyUZEZxWyAVmMHEA2xYFHb65/qgcWqfMmTxVlC2rWTiUHzdT08g4R9gS6XG8OB9PvP1uMPRxQw333V4Wpr3cqR4dYOCgmPLz14hoPxNkqm4iJ7mAE6hoz57vF5ifhL3xRTWZOlHbe8h7ZyBMVYj/kTiSl1jP/pDdEuSHhvlZOXgdrUpzO0PuWpTgR7J1drkrW+UXw8HJ4gr+IaVDfWZL51taE4JTR4b3gIvf9iDFT0tn/wbb0XF42GotDru28ya3JqwjhvJMGtI7suH6cfCg7ST7An+iud7D/3K+2m2mLmq08BfG99zAF16mKu1iSLwqTwPDgPJx5l0opZX6VhOK2DbR442NppJHwQbPA/CCmqSWrO6hS7BX2myrZpGbLhgzRvguEpXu3pMLwmMTbXjbwKxlmf1TZU4N/mFE6j4ktbnmAuy9u8QAzBxBbBk34n2oSkL12akfyAC/58Ll+auGXDm7nxRx8vwJaDe3s/n26NjaDKewt5QzwOTVnD4piWyNoobaLEdGQO6RWPBZ7RbqgbyM3vOMhe8qJGoaFnGpsXApjC0JXw2oXXK9Pj8aRVmw4Z2QEphNJ5IG8SO6o49PBhOblziOR07+nNzs7QDnkz2Ph1rEbRCeWOZaZIyW/9kDEBpvmMbnMW8StUVzLfqcgSH1laM1Esm+G/t2rPiBDjyoxqMBX37wxQ8+cp349tY0/7UQVEUscYjjPP98Q8bJlv8r81uDNpy8DmdyrcSUkrJJO8eBUT8e2jqxOdUdvplbx432qy4mGXYUxeg1nC0xKlWF+8IN2mX50fpgPyUXJwFUy2yOQVJGZHx0rPYYC5coeC5RenSz4jDPM2u7MB371TGQ1hKJITI4P+WsaPG6cOPGYMYDanBUja1CCA+FYpSjtJmWtvnnRa9zx4w3jYekr7oQ37TksNHPIU8Y/EF1KWpArIIz0qk/Lb6XjBDUIbGkC1cCmU1xWgHH368hpyFt06LsTmedtlZUE+q07HLvM9QY7Kj3tQJvoQritbduBqWQYicsrzBvtTaWYqj6mP8C29MnTg/kLG4pmZPiZhdGTZOXnKRetm6UkbDWZSuLa4M9RXtlg+b6o4XTVycJUSop+ruznxAbXV7pnGXmHMsAdd9I9sdbOpAr7+SC4OusJtYE4UoHJ2mlLJazvSAyw2tdJ8NQUe3EzS1CJsH//g/P93V2R6vnPX+ad6uu+rjJhFRH7u5vZkfWWA2tObEniBPJ7hzHyiSunGya4OrkiIqjZ3pN///NC9jbomzVTnnoM+JvnWNWYP0k2Fk6XPUmSfTSEo+KEvb6e0RiVEM+cEfBqOb6kGYWQBkddaJWohbgkXlJf+xg2F1fGi8ubtEBjRBKRZk7Yjh4Q2PbzvEkhBHoVo84khOMPwpeGK5HOTJlItiaUQecnr2SNOo/IC/TMF+rmml01mQQZ6bocVmYRhwUYGfcWPLOH3f1IFtP6dPDXus1/BdK11YxVi5mvtFnH2XABRJXsmibLT2Dg7Jko4T1mMoPVC1/cz9/mMlmivpLDJ6lVHblZq7KbrD1ijCnCQjx561u/p7dNWYxOeOLp5BKe1A9211S0A8eoe++uXMWpFnqpxeeDecLHBBqRSXOFLIWttBh5aVySLtc+SWmJ5D+zTiZvyn/4OKK73Sjs8/p3J6VuGMm7EWCrSj2NWgY9uITuOb4PUoBZBo9jaSY+otVZGP7oILkdq+TBwSbYhuHbHF/olsL7mfPo5MPI5FecpCwcgycy9iRZ5AfNKMj0Xl7wHxE6ZUmrVnMcm9PQIZNS+q+ZFcICaJCmPke2brbF8UHVe1IpAb/2qBGDwojMbX+F/a1LuSfxj6u9kFUtu43bVbcgVyaCqgS4ugfW1zXXB8NYbh25Mm/4+xrPDQFTJJqwWLWAc9FVrpMrayY7ZO3tqh19Vp3q/jpgh2mr67pL2eW3nTB8aHntECm07Wex/l9jLGHVq416Pfijlk5jy8Uyh91uVusrW8tduKZMRLhqe/idmuj9zpk64ddsiWqK3iIhmB4oR1qVCAY4dnAkg3cIfLikVaKyEDVYod2pKDPb9d7OE2erbZXKLAPYmPhT4Rv0zDUrN/R7kmIUDN4Jw/YT+tpfts9IVFc/nNgJCSPdQxPs5X9WJ4iQgk5tqQ2tsTqbEROww+U30+oyk7rdu9HqHG5eXgaccAyidAjGZbzwUTsS19wiRkQyGeGUQRcawjKykxdM4FRdoCgSHjBOypIPkFZEMfLe6JnDMazOzW1JrQOih2jrRKfny0oFHy9/e0GkkvOZTjOvwos2lia+r8WDoIqP7EamcrKDpbeRIV8cO7EW2URvMGwd+X2yfTBd/mWHVHTibfY+k9eO32fgAjn6uVLSQTt1TvFSEDsulOtxZkxchLHrFYxuF2LdzaVrErkhuZxtzril9p3iYCO4jx0839JZfdkqPNhWrbJiHccZwLo6X0oD8i0tYS6yD2XPxSS1cv/e7NQGHofuCUULtoueiLZyW5NRWLcE21g3SAGxzITeGUwj0AuQwc2gsC9bKeLpt9f8Q+pzQs+8tl8zpJlSO/Ne9qivFW9jPjnb4PdaFLnF49sjE26hE8LXM2YOopP0C89qwZT6cSmj5qhr+fFNher4HvIi88jv0EWC/fCoeRX9G0AukrcV1RGrvcfieMdfpoklqvO8iNAJR7Y3h9x2SpV1CCI4R+dOdPK6HP9cJeRGiZrdH+iyuUf31WD1j1TJqnP3rc9peoXTzYxId2cVqqJmhvWBt8hcJM/ALk48DCnAuh9QIhZky8YyZDUVAmevMWkGI1kFnr/2u/xfL6GHS3Vy3SFJrEx7a2Ivu0azkUgfiqc5F2meEaKIpJyIwZS+NlKw7Un1kpcWUAR+V3PaIKeke/p4DmJatPiMYnn4YGnVsM3h/HFxa/tv4g/cks8V/bo4LcVTs2U98lU26usd6DeyDeqaWG9TUwarR21WtEiLZdzaLxxcCeok7MeSLn/FYnDUT0/LdlgOecoUnTwbKE72snjpnrG4sXeNIcwdBNmVP5CSabxX1S1jWpQs0o2FAmXuYyVY6Uce4Z6qdQ6CFGiG5NEqkbMH27vcWuyJldE7aDK1MB06/WJPEV4xsvEIpaAjZ+mTpzmjob/THPPQaZR82UQheJG5i5djb9mtqIufu17M2wd1wwOO+ePLDQ6MHr9+Ct/VnVQCJvMIJKK/5Z1HTeGaXRHo2IQTV7MNbpREZVfuKl/0CuXgQ/oeXVwoRskHmSthOrnGjX6BSHLj9EceMhmOdHBSsLGxI1lDNp8b52ttcPO0T+OxmhF1g4s19BqTU88pHXS8rmf+iA8/w28WY6Kda3jdp9gWuTFo3mHNmWB9/riksoshWhzPBemBxPNWfNmSv+hu0Uyaw1sKLaXEKly35zvxHaxBFBPcYcQ5FmYr1fGEcKXOASh3KlfTS4j80DzV+Y8fQ0zX1ceIv2w9TDGSd7uYtAgmzoPfS7cqIPmCGSUSNBMtHkrrN1tp/oj0DfNTj9Y0rkWuVGwjMHPgrD2kk8tamLuHyO0fQFSJki2V8969czl25MtgkRnd5odVz4R3xWObzJgclewBWgpPnnhsIX3T0haxbP8YfuHwzH44HCMdJdx0V6qjmdOPVUlhmi6d9Mvy1hFJaznxXOyEYx3alP+C4Bkka+9ol6NjR6lDDn/W2Z7ckoByauCTq/2lZz2OEqbEO/o4Cdfwhk81z0dVKVm1kMSOwasVHCgcBbo8jTdQURHER1IRAWuVX/xODJF2w1Vnwkn8Zz9duGGqeLtwIeN1uOe3vIlGDK4Cuk7zvFAvWNZDZp9buVx3zEI7S1DPvuNEk5Wu9YjywcVvAfNtQrIaWBV2biYmC3PjreJPWtBxmOmy5+0gaNOOwl5WP31D+mRcczxfs1f85eMqrFufsOkywXM8cWNIFP/KlyUoNyVcbTZsM3/nlBMDRU2uwtMIDunhCrMTa2DUpYFnYj8Fy68k5lE+9WmPMsp/p6yS4T8Sg5WtXX8/KHKO3VDdnAginXhfc+zhTPxwvAKFibZ06ITf7GwtH96UJbLvOLl4PboYrZqpn++GhubKfH6WMaV5HxTjUdBGiW0WMj/gPehyvCKtrbvH6r/HPn9tzrR0vJCGpdOSGkmqS/LmVPcp42IhizjVZVG0zxR91lf95uN0lPKQ83gx3B7cCF03+8j/KnonpEBJb3uYmN4654Cr6eFHNrfPSbbTZNgvilkx5ywOAZmrZQzSmsv2X+vO/fEAj/8L1i9nqs+tG970b8H6RR2G8O1L/se9W1rydO9eezOg4Kdfu8RX8Rx32s25IsowsxwTpJlzBJo+ts/dZ/mcf3DceJBy4jsW2b+1HPNOs+Dw2UIaNCYZ8mNhYdfs3yeAavftvnsJhlWYFhB7mn9T60K1NC/3vQdcq3aHpv4HUEsDBBQAAgAIAJCuo0iV7pF+SwAAAGsAAAAbAAAAdW5pdmVyc2FsL3VuaXZlcnNhbC5wbmcueG1ss7GvyM1RKEstKs7Mz7NVMtQzULK34+WyKShKLctMLVeoAIoBBSFASaESyDVCcMszU0oygEIG5mYIwYzUzPSMElslCwNzuKA+0EwAUEsBAgAAFAACAAgAkK6jSA5qJE5iBAAABREAAB0AAAAAAAAAAQAAAAAAAAAAAHVuaXZlcnNhbC9jb21tb25fbWVzc2FnZXMubG5nUEsBAgAAFAACAAgAkK6jSAh+CyMpAwAAhgwAACcAAAAAAAAAAQAAAAAAnQQAAHVuaXZlcnNhbC9mbGFzaF9wdWJsaXNoaW5nX3NldHRpbmdzLnhtbFBLAQIAABQAAgAIAJCuo0i1/AlkugIAAFUKAAAhAAAAAAAAAAEAAAAAAAsIAAB1bml2ZXJzYWwvZmxhc2hfc2tpbl9zZXR0aW5ncy54bWxQSwECAAAUAAIACACQrqNIKpYPZ/4CAACXCwAAJgAAAAAAAAABAAAAAAAECwAAdW5pdmVyc2FsL2h0bWxfcHVibGlzaGluZ19zZXR0aW5ncy54bWxQSwECAAAUAAIACACQrqNIaHFSkZoBAAAfBgAAHwAAAAAAAAABAAAAAABGDgAAdW5pdmVyc2FsL2h0bWxfc2tpbl9zZXR0aW5ncy5qc1BLAQIAABQAAgAIAJCuo0g9PC/RwQAAAOUBAAAaAAAAAAAAAAEAAAAAAB0QAAB1bml2ZXJzYWwvaTE4bl9wcmVzZXRzLnhtbFBLAQIAABQAAgAIAJCuo0izv7NQbQAAAHIAAAAcAAAAAAAAAAEAAAAAABYRAAB1bml2ZXJzYWwvbG9jYWxfc2V0dGluZ3MueG1sUEsBAgAAFAACAAgARJRXRyO0Tvv7AgAAsAgAABQAAAAAAAAAAQAAAAAAvREAAHVuaXZlcnNhbC9wbGF5ZXIueG1sUEsBAgAAFAACAAgAkK6jSIyYS/o+CAAAjyAAACkAAAAAAAAAAQAAAAAA6hQAAHVuaXZlcnNhbC9za2luX2N1c3RvbWl6YXRpb25fc2V0dGluZ3MueG1sUEsBAgAAFAACAAgAkK6jSCqKN+aHEQAA8GEAABcAAAAAAAAAAAAAAAAAbx0AAHVuaXZlcnNhbC91bml2ZXJzYWwucG5nUEsBAgAAFAACAAgAkK6jSJXukX5LAAAAawAAABsAAAAAAAAAAQAAAAAAKy8AAHVuaXZlcnNhbC91bml2ZXJzYWwucG5nLnhtbFBLBQYAAAAACwALAEkDAACvLwAAAAA="/>
  <p:tag name="ISPRING_PRESENTATION_TITLE" val="1"/>
  <p:tag name="ISPRING_SCORM_PASSING_SCORE" val="100.000000"/>
  <p:tag name="ISPRING_FIRST_PUBLISH" val="1"/>
  <p:tag name="ISPRING_SCORM_RATE_QUIZZES" val="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OUTPUT_FOLDER" val="F:\VIP专区4月份上传文件\173"/>
</p:tagLst>
</file>

<file path=ppt/theme/theme1.xml><?xml version="1.0" encoding="utf-8"?>
<a:theme xmlns:a="http://schemas.openxmlformats.org/drawingml/2006/main" name="Office 主题">
  <a:themeElements>
    <a:clrScheme name="自定义 40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4961"/>
      </a:accent1>
      <a:accent2>
        <a:srgbClr val="0193C2"/>
      </a:accent2>
      <a:accent3>
        <a:srgbClr val="004961"/>
      </a:accent3>
      <a:accent4>
        <a:srgbClr val="0193C2"/>
      </a:accent4>
      <a:accent5>
        <a:srgbClr val="004961"/>
      </a:accent5>
      <a:accent6>
        <a:srgbClr val="0193C2"/>
      </a:accent6>
      <a:hlink>
        <a:srgbClr val="004961"/>
      </a:hlink>
      <a:folHlink>
        <a:srgbClr val="0193C2"/>
      </a:folHlink>
    </a:clrScheme>
    <a:fontScheme name="自定义 1">
      <a:majorFont>
        <a:latin typeface="Calibri"/>
        <a:ea typeface="字魂35号-经典雅黑"/>
        <a:cs typeface=""/>
      </a:majorFont>
      <a:minorFont>
        <a:latin typeface="Calibri"/>
        <a:ea typeface="字魂35号-经典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2642</Words>
  <Application>Microsoft Office PowerPoint</Application>
  <PresentationFormat>如螢幕大小 (16:9)</PresentationFormat>
  <Paragraphs>406</Paragraphs>
  <Slides>44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44</vt:i4>
      </vt:variant>
    </vt:vector>
  </HeadingPairs>
  <TitlesOfParts>
    <vt:vector size="54" baseType="lpstr">
      <vt:lpstr>字魂35号-经典雅黑</vt:lpstr>
      <vt:lpstr>微軟正黑體</vt:lpstr>
      <vt:lpstr>Arial</vt:lpstr>
      <vt:lpstr>Calibri</vt:lpstr>
      <vt:lpstr>Calibri Light</vt:lpstr>
      <vt:lpstr>OCR A Extended</vt:lpstr>
      <vt:lpstr>Wingdings</vt:lpstr>
      <vt:lpstr>Wingdings 2</vt:lpstr>
      <vt:lpstr>Office 主题</vt:lpstr>
      <vt:lpstr>自訂設計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2025-02-26T15:35:41Z</dcterms:created>
  <dcterms:modified xsi:type="dcterms:W3CDTF">2025-12-15T09:30:46Z</dcterms:modified>
</cp:coreProperties>
</file>